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9" r:id="rId3"/>
    <p:sldId id="260" r:id="rId4"/>
    <p:sldId id="261" r:id="rId5"/>
    <p:sldId id="257" r:id="rId6"/>
    <p:sldId id="262" r:id="rId7"/>
    <p:sldId id="263" r:id="rId8"/>
    <p:sldId id="264" r:id="rId9"/>
    <p:sldId id="265" r:id="rId10"/>
    <p:sldId id="258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7143"/>
    <a:srgbClr val="433F57"/>
    <a:srgbClr val="4D4057"/>
    <a:srgbClr val="69AF92"/>
    <a:srgbClr val="6EB899"/>
    <a:srgbClr val="3A88AA"/>
    <a:srgbClr val="3795AA"/>
    <a:srgbClr val="7ACBA9"/>
    <a:srgbClr val="63CBAE"/>
    <a:srgbClr val="6AC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73"/>
    <p:restoredTop sz="94643"/>
  </p:normalViewPr>
  <p:slideViewPr>
    <p:cSldViewPr snapToGrid="0" snapToObjects="1">
      <p:cViewPr varScale="1">
        <p:scale>
          <a:sx n="81" d="100"/>
          <a:sy n="81" d="100"/>
        </p:scale>
        <p:origin x="826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EAC439-C164-404E-AA10-5D0AB8C6203E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341A40-7B0F-3A4D-96CD-313A00E9F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508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341A40-7B0F-3A4D-96CD-313A00E9F29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583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341A40-7B0F-3A4D-96CD-313A00E9F29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56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341A40-7B0F-3A4D-96CD-313A00E9F29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404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341A40-7B0F-3A4D-96CD-313A00E9F29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8155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341A40-7B0F-3A4D-96CD-313A00E9F29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4783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341A40-7B0F-3A4D-96CD-313A00E9F29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563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341A40-7B0F-3A4D-96CD-313A00E9F29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7537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341A40-7B0F-3A4D-96CD-313A00E9F29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388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787C-C850-F14E-A0AB-8417C0EE3BA6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35BF6-16A1-8841-AAD2-05A458F8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279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787C-C850-F14E-A0AB-8417C0EE3BA6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35BF6-16A1-8841-AAD2-05A458F8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1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787C-C850-F14E-A0AB-8417C0EE3BA6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35BF6-16A1-8841-AAD2-05A458F8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90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787C-C850-F14E-A0AB-8417C0EE3BA6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35BF6-16A1-8841-AAD2-05A458F8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843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787C-C850-F14E-A0AB-8417C0EE3BA6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35BF6-16A1-8841-AAD2-05A458F8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720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787C-C850-F14E-A0AB-8417C0EE3BA6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35BF6-16A1-8841-AAD2-05A458F8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80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787C-C850-F14E-A0AB-8417C0EE3BA6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35BF6-16A1-8841-AAD2-05A458F8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54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787C-C850-F14E-A0AB-8417C0EE3BA6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35BF6-16A1-8841-AAD2-05A458F8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9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787C-C850-F14E-A0AB-8417C0EE3BA6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35BF6-16A1-8841-AAD2-05A458F8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753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787C-C850-F14E-A0AB-8417C0EE3BA6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35BF6-16A1-8841-AAD2-05A458F8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44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787C-C850-F14E-A0AB-8417C0EE3BA6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35BF6-16A1-8841-AAD2-05A458F8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32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80787C-C850-F14E-A0AB-8417C0EE3BA6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735BF6-16A1-8841-AAD2-05A458F8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805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-104078" y="-89740"/>
            <a:ext cx="12422458" cy="7031314"/>
          </a:xfrm>
          <a:prstGeom prst="rect">
            <a:avLst/>
          </a:prstGeom>
          <a:solidFill>
            <a:srgbClr val="433F57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35151" y="1038317"/>
            <a:ext cx="9144000" cy="2387600"/>
          </a:xfrm>
        </p:spPr>
        <p:txBody>
          <a:bodyPr>
            <a:normAutofit/>
          </a:bodyPr>
          <a:lstStyle/>
          <a:p>
            <a:r>
              <a:rPr lang="en-US" sz="5400" b="1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Company Name’s Marketing Strategy</a:t>
            </a:r>
            <a:endParaRPr lang="en-US" sz="5400" b="1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728418"/>
            <a:ext cx="12192000" cy="494177"/>
          </a:xfrm>
        </p:spPr>
        <p:txBody>
          <a:bodyPr>
            <a:normAutofit/>
          </a:bodyPr>
          <a:lstStyle/>
          <a:p>
            <a:r>
              <a:rPr lang="en-US" sz="2000" i="1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Presented by {Insert your name}</a:t>
            </a:r>
            <a:endParaRPr lang="en-US" sz="2000" i="1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0" y="5925205"/>
            <a:ext cx="12192000" cy="4941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spc="3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INSERT YOUR COMPANY LOGO HERE</a:t>
            </a:r>
            <a:endParaRPr lang="en-US" sz="1000" spc="300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14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-104078" y="-100626"/>
            <a:ext cx="12422458" cy="1880839"/>
          </a:xfrm>
          <a:prstGeom prst="rect">
            <a:avLst/>
          </a:prstGeom>
          <a:solidFill>
            <a:srgbClr val="433F57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-104078" y="-89740"/>
            <a:ext cx="12422458" cy="7031314"/>
          </a:xfrm>
          <a:prstGeom prst="rect">
            <a:avLst/>
          </a:prstGeom>
          <a:solidFill>
            <a:srgbClr val="433F57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5980" y="747325"/>
            <a:ext cx="11582400" cy="494177"/>
          </a:xfrm>
        </p:spPr>
        <p:txBody>
          <a:bodyPr>
            <a:noAutofit/>
          </a:bodyPr>
          <a:lstStyle/>
          <a:p>
            <a:pPr algn="l"/>
            <a:r>
              <a:rPr lang="en-US" sz="4000" b="1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Our Goal</a:t>
            </a:r>
            <a:endParaRPr lang="en-US" sz="4000" b="1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9359590" y="6348955"/>
            <a:ext cx="2824976" cy="4941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spc="3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COMPANY LOGO HERE</a:t>
            </a:r>
            <a:endParaRPr lang="en-US" sz="1000" spc="300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11297" y="2150685"/>
            <a:ext cx="7969405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By {insert day, month, year}, the {insert your organization’s name} marketing team will reach {insert number} {insert metric} every {insert time frame}.</a:t>
            </a:r>
            <a:endParaRPr lang="en-US" sz="3200" dirty="0" smtClean="0">
              <a:solidFill>
                <a:schemeClr val="bg1"/>
              </a:solidFill>
              <a:effectLst/>
              <a:latin typeface="Helvetica" charset="0"/>
              <a:ea typeface="Helvetica" charset="0"/>
              <a:cs typeface="Helvetica" charset="0"/>
            </a:endParaRPr>
          </a:p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316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-104078" y="-100626"/>
            <a:ext cx="12422458" cy="1880839"/>
          </a:xfrm>
          <a:prstGeom prst="rect">
            <a:avLst/>
          </a:prstGeom>
          <a:solidFill>
            <a:srgbClr val="433F57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-104078" y="-89740"/>
            <a:ext cx="12422458" cy="7031314"/>
          </a:xfrm>
          <a:prstGeom prst="rect">
            <a:avLst/>
          </a:prstGeom>
          <a:solidFill>
            <a:srgbClr val="433F57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5980" y="747325"/>
            <a:ext cx="11582400" cy="494177"/>
          </a:xfrm>
        </p:spPr>
        <p:txBody>
          <a:bodyPr>
            <a:noAutofit/>
          </a:bodyPr>
          <a:lstStyle/>
          <a:p>
            <a:pPr algn="l"/>
            <a:r>
              <a:rPr lang="en-US" sz="4000" b="1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How We’ll Get There</a:t>
            </a:r>
            <a:endParaRPr lang="en-US" sz="4000" b="1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9359590" y="6348955"/>
            <a:ext cx="2824976" cy="4941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spc="3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COMPANY LOGO HERE</a:t>
            </a:r>
            <a:endParaRPr lang="en-US" sz="1000" spc="300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806511"/>
              </p:ext>
            </p:extLst>
          </p:nvPr>
        </p:nvGraphicFramePr>
        <p:xfrm>
          <a:off x="1795520" y="2549310"/>
          <a:ext cx="9768120" cy="1771301"/>
        </p:xfrm>
        <a:graphic>
          <a:graphicData uri="http://schemas.openxmlformats.org/drawingml/2006/table">
            <a:tbl>
              <a:tblPr bandRow="1">
                <a:tableStyleId>{0660B408-B3CF-4A94-85FC-2B1E0A45F4A2}</a:tableStyleId>
              </a:tblPr>
              <a:tblGrid>
                <a:gridCol w="814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4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4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40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40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40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40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40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40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401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1401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1401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99701">
                <a:tc>
                  <a:txBody>
                    <a:bodyPr/>
                    <a:lstStyle/>
                    <a:p>
                      <a:pPr algn="ctr"/>
                      <a:r>
                        <a:rPr lang="en-US" sz="1800" spc="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JAN.</a:t>
                      </a:r>
                      <a:endParaRPr lang="en-US" sz="1800" spc="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pc="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FEB.</a:t>
                      </a:r>
                      <a:endParaRPr lang="en-US" sz="1800" spc="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pc="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MAR.</a:t>
                      </a:r>
                      <a:endParaRPr lang="en-US" sz="1800" spc="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pc="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APR.</a:t>
                      </a:r>
                      <a:endParaRPr lang="en-US" sz="1800" spc="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pc="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MAY</a:t>
                      </a:r>
                      <a:endParaRPr lang="en-US" sz="1800" spc="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pc="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JUNE</a:t>
                      </a:r>
                      <a:endParaRPr lang="en-US" sz="1800" spc="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pc="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JULY</a:t>
                      </a:r>
                      <a:endParaRPr lang="en-US" sz="1800" spc="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pc="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AUG.</a:t>
                      </a:r>
                      <a:endParaRPr lang="en-US" sz="1800" spc="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pc="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SEPT.</a:t>
                      </a:r>
                      <a:endParaRPr lang="en-US" sz="1800" spc="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pc="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OCT.</a:t>
                      </a:r>
                      <a:endParaRPr lang="en-US" sz="1800" spc="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pc="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NOV.</a:t>
                      </a:r>
                      <a:endParaRPr lang="en-US" sz="1800" spc="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pc="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DEC.</a:t>
                      </a:r>
                      <a:endParaRPr lang="en-US" sz="1800" spc="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010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/>
                      </a:r>
                      <a:b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</a:b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###</a:t>
                      </a:r>
                      <a:endParaRPr lang="en-US" sz="280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/>
                      </a:r>
                      <a:b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</a:b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###</a:t>
                      </a:r>
                    </a:p>
                    <a:p>
                      <a:pPr algn="ctr"/>
                      <a:endParaRPr lang="en-US" sz="280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/>
                      </a:r>
                      <a:b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</a:b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###</a:t>
                      </a:r>
                    </a:p>
                    <a:p>
                      <a:pPr algn="ctr"/>
                      <a:endParaRPr lang="en-US" sz="280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/>
                      </a:r>
                      <a:b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</a:b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###</a:t>
                      </a:r>
                    </a:p>
                    <a:p>
                      <a:pPr algn="ctr"/>
                      <a:endParaRPr lang="en-US" sz="280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/>
                      </a:r>
                      <a:b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</a:b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###</a:t>
                      </a:r>
                    </a:p>
                    <a:p>
                      <a:pPr algn="ctr"/>
                      <a:endParaRPr lang="en-US" sz="280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/>
                      </a:r>
                      <a:b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</a:b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###</a:t>
                      </a:r>
                    </a:p>
                    <a:p>
                      <a:pPr algn="ctr"/>
                      <a:endParaRPr lang="en-US" sz="280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/>
                      </a:r>
                      <a:b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</a:b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###</a:t>
                      </a:r>
                    </a:p>
                    <a:p>
                      <a:pPr algn="ctr"/>
                      <a:endParaRPr lang="en-US" sz="280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/>
                      </a:r>
                      <a:b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</a:b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###</a:t>
                      </a:r>
                    </a:p>
                    <a:p>
                      <a:pPr algn="ctr"/>
                      <a:endParaRPr lang="en-US" sz="280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/>
                      </a:r>
                      <a:b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</a:b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###</a:t>
                      </a:r>
                    </a:p>
                    <a:p>
                      <a:pPr algn="ctr"/>
                      <a:endParaRPr lang="en-US" sz="280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/>
                      </a:r>
                      <a:b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</a:b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###</a:t>
                      </a:r>
                    </a:p>
                    <a:p>
                      <a:pPr algn="ctr"/>
                      <a:endParaRPr lang="en-US" sz="280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/>
                      </a:r>
                      <a:b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</a:b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###</a:t>
                      </a:r>
                    </a:p>
                    <a:p>
                      <a:pPr algn="ctr"/>
                      <a:endParaRPr lang="en-US" sz="280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/>
                      </a:r>
                      <a:b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</a:b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###</a:t>
                      </a:r>
                    </a:p>
                    <a:p>
                      <a:pPr algn="ctr"/>
                      <a:endParaRPr lang="en-US" sz="280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0741" y="3494058"/>
            <a:ext cx="11683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Final Goal</a:t>
            </a:r>
            <a:endParaRPr lang="en-US" sz="1400" b="1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17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-104078" y="-89740"/>
            <a:ext cx="12422458" cy="1880839"/>
          </a:xfrm>
          <a:prstGeom prst="rect">
            <a:avLst/>
          </a:prstGeom>
          <a:solidFill>
            <a:srgbClr val="433F57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-104078" y="-89740"/>
            <a:ext cx="12422458" cy="7031314"/>
          </a:xfrm>
          <a:prstGeom prst="rect">
            <a:avLst/>
          </a:prstGeom>
          <a:solidFill>
            <a:srgbClr val="433F57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5980" y="758211"/>
            <a:ext cx="11582400" cy="494177"/>
          </a:xfrm>
        </p:spPr>
        <p:txBody>
          <a:bodyPr>
            <a:noAutofit/>
          </a:bodyPr>
          <a:lstStyle/>
          <a:p>
            <a:pPr algn="l"/>
            <a:r>
              <a:rPr lang="en-US" sz="4000" b="1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How We’ll Measure It</a:t>
            </a:r>
            <a:endParaRPr lang="en-US" sz="4000" b="1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9359590" y="6348955"/>
            <a:ext cx="2824976" cy="4941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spc="3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COMPANY LOGO HERE</a:t>
            </a:r>
            <a:endParaRPr lang="en-US" sz="1000" spc="300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11297" y="2433368"/>
            <a:ext cx="796940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We will track our success with </a:t>
            </a:r>
          </a:p>
          <a:p>
            <a:pPr algn="ctr"/>
            <a:r>
              <a:rPr lang="en-US" sz="32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{insert your goal measurement tool}.</a:t>
            </a:r>
            <a:endParaRPr lang="en-US" sz="3200" dirty="0" smtClean="0">
              <a:solidFill>
                <a:schemeClr val="bg1"/>
              </a:solidFill>
              <a:effectLst/>
              <a:latin typeface="Helvetica" charset="0"/>
              <a:ea typeface="Helvetica" charset="0"/>
              <a:cs typeface="Helvetica" charset="0"/>
            </a:endParaRPr>
          </a:p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207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9" name="Rectangle 8"/>
          <p:cNvSpPr/>
          <p:nvPr/>
        </p:nvSpPr>
        <p:spPr>
          <a:xfrm>
            <a:off x="-104078" y="-89740"/>
            <a:ext cx="12422458" cy="7041146"/>
          </a:xfrm>
          <a:prstGeom prst="rect">
            <a:avLst/>
          </a:prstGeom>
          <a:solidFill>
            <a:srgbClr val="6EB89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524000" y="1483852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b="1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Our </a:t>
            </a:r>
            <a:r>
              <a:rPr lang="en-US" sz="5400" b="1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SWOT Analysis</a:t>
            </a:r>
            <a:endParaRPr lang="en-US" sz="5400" b="1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007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" name="Rectangle 4"/>
          <p:cNvSpPr/>
          <p:nvPr/>
        </p:nvSpPr>
        <p:spPr>
          <a:xfrm>
            <a:off x="-104078" y="-89740"/>
            <a:ext cx="12422458" cy="7041146"/>
          </a:xfrm>
          <a:prstGeom prst="rect">
            <a:avLst/>
          </a:prstGeom>
          <a:solidFill>
            <a:srgbClr val="6EB89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104078" y="-93406"/>
            <a:ext cx="12422458" cy="1880839"/>
          </a:xfrm>
          <a:prstGeom prst="rect">
            <a:avLst/>
          </a:prstGeom>
          <a:solidFill>
            <a:srgbClr val="69AF9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735980" y="758211"/>
            <a:ext cx="11582400" cy="4941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Strengths</a:t>
            </a:r>
            <a:endParaRPr lang="en-US" sz="4000" b="1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54942" y="2172929"/>
            <a:ext cx="64204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Strength #1 Listed Here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Strength #2 Listed Here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Strength #3 Listed Here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Strength #4 Listed Here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Strength #5 Listed Here</a:t>
            </a:r>
          </a:p>
        </p:txBody>
      </p:sp>
    </p:spTree>
    <p:extLst>
      <p:ext uri="{BB962C8B-B14F-4D97-AF65-F5344CB8AC3E}">
        <p14:creationId xmlns:p14="http://schemas.microsoft.com/office/powerpoint/2010/main" val="2100614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7" name="Rectangle 6"/>
          <p:cNvSpPr/>
          <p:nvPr/>
        </p:nvSpPr>
        <p:spPr>
          <a:xfrm>
            <a:off x="-104078" y="-89740"/>
            <a:ext cx="12422458" cy="7041146"/>
          </a:xfrm>
          <a:prstGeom prst="rect">
            <a:avLst/>
          </a:prstGeom>
          <a:solidFill>
            <a:srgbClr val="6EB89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-104078" y="-89740"/>
            <a:ext cx="12422458" cy="1880839"/>
          </a:xfrm>
          <a:prstGeom prst="rect">
            <a:avLst/>
          </a:prstGeom>
          <a:solidFill>
            <a:srgbClr val="69AF9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735980" y="758211"/>
            <a:ext cx="11582400" cy="4941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Weaknesses</a:t>
            </a:r>
            <a:endParaRPr lang="en-US" sz="4000" b="1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54942" y="2172929"/>
            <a:ext cx="64204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Weakness #1 Listed Here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Weakness #2 Listed Here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Weakness #3 Listed Here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Weakness #4 Listed Here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Weakness #5 Listed Here</a:t>
            </a:r>
          </a:p>
        </p:txBody>
      </p:sp>
    </p:spTree>
    <p:extLst>
      <p:ext uri="{BB962C8B-B14F-4D97-AF65-F5344CB8AC3E}">
        <p14:creationId xmlns:p14="http://schemas.microsoft.com/office/powerpoint/2010/main" val="1569966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7" name="Rectangle 6"/>
          <p:cNvSpPr/>
          <p:nvPr/>
        </p:nvSpPr>
        <p:spPr>
          <a:xfrm>
            <a:off x="-104078" y="-89740"/>
            <a:ext cx="12422458" cy="7041146"/>
          </a:xfrm>
          <a:prstGeom prst="rect">
            <a:avLst/>
          </a:prstGeom>
          <a:solidFill>
            <a:srgbClr val="6EB89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-104078" y="-89740"/>
            <a:ext cx="12422458" cy="1880839"/>
          </a:xfrm>
          <a:prstGeom prst="rect">
            <a:avLst/>
          </a:prstGeom>
          <a:solidFill>
            <a:srgbClr val="69AF9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735980" y="758211"/>
            <a:ext cx="11582400" cy="4941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Opportunities</a:t>
            </a:r>
            <a:endParaRPr lang="en-US" sz="4000" b="1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54942" y="2172929"/>
            <a:ext cx="64204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Opportunity #1 Listed Here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Opportunity #2 Listed Here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Opportunity #3 Listed Here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Opportunity #4 Listed Here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Opportunity #5 Listed Here</a:t>
            </a:r>
          </a:p>
        </p:txBody>
      </p:sp>
    </p:spTree>
    <p:extLst>
      <p:ext uri="{BB962C8B-B14F-4D97-AF65-F5344CB8AC3E}">
        <p14:creationId xmlns:p14="http://schemas.microsoft.com/office/powerpoint/2010/main" val="1873449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7" name="Rectangle 6"/>
          <p:cNvSpPr/>
          <p:nvPr/>
        </p:nvSpPr>
        <p:spPr>
          <a:xfrm>
            <a:off x="-104078" y="-89740"/>
            <a:ext cx="12422458" cy="7041146"/>
          </a:xfrm>
          <a:prstGeom prst="rect">
            <a:avLst/>
          </a:prstGeom>
          <a:solidFill>
            <a:srgbClr val="6EB89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-104078" y="-89740"/>
            <a:ext cx="12422458" cy="1880839"/>
          </a:xfrm>
          <a:prstGeom prst="rect">
            <a:avLst/>
          </a:prstGeom>
          <a:solidFill>
            <a:srgbClr val="69AF9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735980" y="758211"/>
            <a:ext cx="11582400" cy="4941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Threats</a:t>
            </a:r>
            <a:endParaRPr lang="en-US" sz="4000" b="1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54942" y="2172929"/>
            <a:ext cx="64204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Threat #1 Listed Here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Threat #2 Listed Here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Threat #3 Listed Here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Threat #4 Listed Here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Threat #5 Listed Here</a:t>
            </a:r>
          </a:p>
        </p:txBody>
      </p:sp>
    </p:spTree>
    <p:extLst>
      <p:ext uri="{BB962C8B-B14F-4D97-AF65-F5344CB8AC3E}">
        <p14:creationId xmlns:p14="http://schemas.microsoft.com/office/powerpoint/2010/main" val="1542049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524000" y="1483852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b="1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Our Target Audience</a:t>
            </a:r>
          </a:p>
          <a:p>
            <a:pPr algn="ctr"/>
            <a:r>
              <a:rPr lang="en-US" sz="5400" b="1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And Persona</a:t>
            </a:r>
            <a:endParaRPr lang="en-US" sz="5400" b="1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184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Rectangle 5"/>
          <p:cNvSpPr/>
          <p:nvPr/>
        </p:nvSpPr>
        <p:spPr>
          <a:xfrm>
            <a:off x="-104078" y="-89740"/>
            <a:ext cx="12422458" cy="1880839"/>
          </a:xfrm>
          <a:prstGeom prst="rect">
            <a:avLst/>
          </a:prstGeom>
          <a:solidFill>
            <a:srgbClr val="3A88AA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735980" y="758211"/>
            <a:ext cx="11582400" cy="4941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Target Audience Statement</a:t>
            </a:r>
            <a:endParaRPr lang="en-US" sz="4000" b="1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11297" y="2433368"/>
            <a:ext cx="796940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{</a:t>
            </a:r>
            <a:r>
              <a:rPr lang="en-US" sz="3200" dirty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Insert your company} creates content to attract {insert target audience} so they can {insert desired outcome} better. </a:t>
            </a:r>
            <a:r>
              <a:rPr lang="en-US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</a:br>
            <a:endParaRPr lang="en-US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601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Rectangle 5"/>
          <p:cNvSpPr/>
          <p:nvPr/>
        </p:nvSpPr>
        <p:spPr>
          <a:xfrm>
            <a:off x="-104078" y="-89740"/>
            <a:ext cx="12422458" cy="1880839"/>
          </a:xfrm>
          <a:prstGeom prst="rect">
            <a:avLst/>
          </a:prstGeom>
          <a:solidFill>
            <a:srgbClr val="3A88AA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735980" y="758211"/>
            <a:ext cx="11582400" cy="4941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Basics</a:t>
            </a:r>
            <a:endParaRPr lang="en-US" sz="4000" b="1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53981" y="2286895"/>
            <a:ext cx="7969405" cy="3226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Persona name: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Job title: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Job responsibilities: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Gender: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Age:</a:t>
            </a:r>
            <a:r>
              <a:rPr lang="en-US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</a:br>
            <a:endParaRPr lang="en-US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165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Rectangle 5"/>
          <p:cNvSpPr/>
          <p:nvPr/>
        </p:nvSpPr>
        <p:spPr>
          <a:xfrm>
            <a:off x="-104078" y="-89740"/>
            <a:ext cx="12422458" cy="1880839"/>
          </a:xfrm>
          <a:prstGeom prst="rect">
            <a:avLst/>
          </a:prstGeom>
          <a:solidFill>
            <a:srgbClr val="3A88AA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735980" y="758211"/>
            <a:ext cx="11582400" cy="4941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Company Information</a:t>
            </a:r>
            <a:endParaRPr lang="en-US" sz="4000" b="1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53981" y="2286895"/>
            <a:ext cx="7969405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Company size: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Team size: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Location:</a:t>
            </a:r>
            <a:r>
              <a:rPr lang="en-US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</a:br>
            <a:endParaRPr lang="en-US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927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Rectangle 5"/>
          <p:cNvSpPr/>
          <p:nvPr/>
        </p:nvSpPr>
        <p:spPr>
          <a:xfrm>
            <a:off x="-104078" y="-89740"/>
            <a:ext cx="12422458" cy="1880839"/>
          </a:xfrm>
          <a:prstGeom prst="rect">
            <a:avLst/>
          </a:prstGeom>
          <a:solidFill>
            <a:srgbClr val="3A88AA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735980" y="758211"/>
            <a:ext cx="11582400" cy="4941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Emotion</a:t>
            </a:r>
            <a:endParaRPr lang="en-US" sz="4000" b="1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53981" y="2286895"/>
            <a:ext cx="7969405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Reasons they search for a solution: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Why they choose us: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#1 benefit they get from us: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Closest competitor they’d consider: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Customer quote: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Favorite blogs and resources:</a:t>
            </a:r>
            <a:r>
              <a:rPr lang="en-US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</a:br>
            <a:endParaRPr lang="en-US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568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Rectangle 5"/>
          <p:cNvSpPr/>
          <p:nvPr/>
        </p:nvSpPr>
        <p:spPr>
          <a:xfrm>
            <a:off x="-104078" y="-89740"/>
            <a:ext cx="12422458" cy="1880839"/>
          </a:xfrm>
          <a:prstGeom prst="rect">
            <a:avLst/>
          </a:prstGeom>
          <a:solidFill>
            <a:srgbClr val="3A88AA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735980" y="758211"/>
            <a:ext cx="11582400" cy="4941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Image</a:t>
            </a:r>
            <a:endParaRPr lang="en-US" sz="4000" b="1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53981" y="2286895"/>
            <a:ext cx="7969405" cy="578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Link to image (or place image here):</a:t>
            </a:r>
            <a:endParaRPr lang="en-US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611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104078" y="-89740"/>
            <a:ext cx="12422458" cy="7031314"/>
          </a:xfrm>
          <a:prstGeom prst="rect">
            <a:avLst/>
          </a:prstGeom>
          <a:solidFill>
            <a:srgbClr val="433F57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524000" y="1483852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b="1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Our Branding</a:t>
            </a:r>
            <a:endParaRPr lang="en-US" sz="5400" b="1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550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-104078" y="-89740"/>
            <a:ext cx="12422458" cy="1880839"/>
          </a:xfrm>
          <a:prstGeom prst="rect">
            <a:avLst/>
          </a:prstGeom>
          <a:solidFill>
            <a:srgbClr val="433F57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104078" y="-89740"/>
            <a:ext cx="12422458" cy="7031314"/>
          </a:xfrm>
          <a:prstGeom prst="rect">
            <a:avLst/>
          </a:prstGeom>
          <a:solidFill>
            <a:srgbClr val="433F57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5980" y="758211"/>
            <a:ext cx="11582400" cy="494177"/>
          </a:xfrm>
        </p:spPr>
        <p:txBody>
          <a:bodyPr>
            <a:noAutofit/>
          </a:bodyPr>
          <a:lstStyle/>
          <a:p>
            <a:pPr algn="l"/>
            <a:r>
              <a:rPr lang="en-US" sz="4000" b="1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Brand Positioning</a:t>
            </a:r>
            <a:endParaRPr lang="en-US" sz="4000" b="1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9359590" y="6348955"/>
            <a:ext cx="2824976" cy="4941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spc="3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COMPANY LOGO HERE</a:t>
            </a:r>
            <a:endParaRPr lang="en-US" sz="1000" spc="300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53981" y="2286895"/>
            <a:ext cx="7969405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Relevancy: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Uniqueness: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Credibility:</a:t>
            </a:r>
            <a:r>
              <a:rPr lang="en-US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</a:br>
            <a:endParaRPr lang="en-US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178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-104078" y="-89740"/>
            <a:ext cx="12422458" cy="1880839"/>
          </a:xfrm>
          <a:prstGeom prst="rect">
            <a:avLst/>
          </a:prstGeom>
          <a:solidFill>
            <a:srgbClr val="433F57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-104078" y="-89740"/>
            <a:ext cx="12422458" cy="7031314"/>
          </a:xfrm>
          <a:prstGeom prst="rect">
            <a:avLst/>
          </a:prstGeom>
          <a:solidFill>
            <a:srgbClr val="433F57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5980" y="758211"/>
            <a:ext cx="11582400" cy="494177"/>
          </a:xfrm>
        </p:spPr>
        <p:txBody>
          <a:bodyPr>
            <a:noAutofit/>
          </a:bodyPr>
          <a:lstStyle/>
          <a:p>
            <a:pPr algn="l"/>
            <a:r>
              <a:rPr lang="en-US" sz="4000" b="1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Brand Statement</a:t>
            </a:r>
            <a:endParaRPr lang="en-US" sz="4000" b="1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9359590" y="6348955"/>
            <a:ext cx="2824976" cy="4941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spc="3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COMPANY LOGO HERE</a:t>
            </a:r>
            <a:endParaRPr lang="en-US" sz="1000" spc="300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40552" y="2382559"/>
            <a:ext cx="831089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{Insert target audience} trust {insert your brand} as the {insert unique product or service category} that {insert primary benefit} because {insert your brand} is the best way to {insert credibility statement}. </a:t>
            </a:r>
            <a:r>
              <a:rPr lang="en-US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</a:br>
            <a:endParaRPr lang="en-US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15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-104078" y="-89740"/>
            <a:ext cx="12422458" cy="7031314"/>
          </a:xfrm>
          <a:prstGeom prst="rect">
            <a:avLst/>
          </a:prstGeom>
          <a:solidFill>
            <a:srgbClr val="433F57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104077" y="-89741"/>
            <a:ext cx="12422458" cy="1880839"/>
          </a:xfrm>
          <a:prstGeom prst="rect">
            <a:avLst/>
          </a:prstGeom>
          <a:solidFill>
            <a:srgbClr val="433F57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5980" y="758211"/>
            <a:ext cx="11582400" cy="494177"/>
          </a:xfrm>
        </p:spPr>
        <p:txBody>
          <a:bodyPr>
            <a:noAutofit/>
          </a:bodyPr>
          <a:lstStyle/>
          <a:p>
            <a:pPr algn="l"/>
            <a:r>
              <a:rPr lang="en-US" sz="4000" b="1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Brand Voice</a:t>
            </a:r>
            <a:endParaRPr lang="en-US" sz="4000" b="1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9359590" y="6348955"/>
            <a:ext cx="2824976" cy="4941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spc="3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COMPANY LOGO HERE</a:t>
            </a:r>
            <a:endParaRPr lang="en-US" sz="1000" spc="300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5980" y="2549310"/>
            <a:ext cx="10795819" cy="2222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Statement #1: We are {insert desired perception}, but we are not {insert antonym of desired perception}.</a:t>
            </a:r>
          </a:p>
          <a:p>
            <a:pPr>
              <a:lnSpc>
                <a:spcPct val="200000"/>
              </a:lnSpc>
            </a:pPr>
            <a:r>
              <a:rPr lang="en-US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Statement #2: We are {insert desired perception}, but we are not {insert antonym of desired perception}.</a:t>
            </a:r>
          </a:p>
          <a:p>
            <a:pPr>
              <a:lnSpc>
                <a:spcPct val="200000"/>
              </a:lnSpc>
            </a:pPr>
            <a:r>
              <a:rPr lang="en-US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Statement #3: We are {insert desired perception}, but we are not {insert antonym of desired perception}. </a:t>
            </a:r>
            <a:br>
              <a:rPr lang="en-US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</a:br>
            <a:endParaRPr lang="en-US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719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" name="Rectangle 4"/>
          <p:cNvSpPr/>
          <p:nvPr/>
        </p:nvSpPr>
        <p:spPr>
          <a:xfrm>
            <a:off x="-104078" y="-89740"/>
            <a:ext cx="12422458" cy="7041146"/>
          </a:xfrm>
          <a:prstGeom prst="rect">
            <a:avLst/>
          </a:prstGeom>
          <a:solidFill>
            <a:srgbClr val="6EB89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524000" y="1483852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b="1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Our Marketing Strategy</a:t>
            </a:r>
            <a:endParaRPr lang="en-US" sz="5400" b="1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175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" name="Rectangle 4"/>
          <p:cNvSpPr/>
          <p:nvPr/>
        </p:nvSpPr>
        <p:spPr>
          <a:xfrm>
            <a:off x="-104078" y="-89740"/>
            <a:ext cx="12422458" cy="7041146"/>
          </a:xfrm>
          <a:prstGeom prst="rect">
            <a:avLst/>
          </a:prstGeom>
          <a:solidFill>
            <a:srgbClr val="6EB89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104078" y="-93406"/>
            <a:ext cx="12422458" cy="1880839"/>
          </a:xfrm>
          <a:prstGeom prst="rect">
            <a:avLst/>
          </a:prstGeom>
          <a:solidFill>
            <a:srgbClr val="69AF9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735980" y="758211"/>
            <a:ext cx="11582400" cy="4941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Marketing Tactics</a:t>
            </a:r>
            <a:endParaRPr lang="en-US" sz="4000" b="1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54942" y="2172929"/>
            <a:ext cx="64204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Tactic #1 Listed Here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Tactic #2 Listed Here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Tactic #3 Listed Here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Tactic #4 Listed Here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Tactic #5 Listed Here</a:t>
            </a:r>
          </a:p>
        </p:txBody>
      </p:sp>
    </p:spTree>
    <p:extLst>
      <p:ext uri="{BB962C8B-B14F-4D97-AF65-F5344CB8AC3E}">
        <p14:creationId xmlns:p14="http://schemas.microsoft.com/office/powerpoint/2010/main" val="1808411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" name="Rectangle 4"/>
          <p:cNvSpPr/>
          <p:nvPr/>
        </p:nvSpPr>
        <p:spPr>
          <a:xfrm>
            <a:off x="-104078" y="-89740"/>
            <a:ext cx="12422458" cy="7041146"/>
          </a:xfrm>
          <a:prstGeom prst="rect">
            <a:avLst/>
          </a:prstGeom>
          <a:solidFill>
            <a:srgbClr val="6EB89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104078" y="-93406"/>
            <a:ext cx="12422458" cy="1880839"/>
          </a:xfrm>
          <a:prstGeom prst="rect">
            <a:avLst/>
          </a:prstGeom>
          <a:solidFill>
            <a:srgbClr val="69AF9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735980" y="758211"/>
            <a:ext cx="11582400" cy="4941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Marketing Projects</a:t>
            </a:r>
            <a:endParaRPr lang="en-US" sz="4000" b="1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54942" y="2172929"/>
            <a:ext cx="64204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Project #1 Listed Here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Project #2 Listed Here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Project #3 Listed Here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Project #4 Listed Here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Project #5 Listed Here</a:t>
            </a:r>
          </a:p>
        </p:txBody>
      </p:sp>
    </p:spTree>
    <p:extLst>
      <p:ext uri="{BB962C8B-B14F-4D97-AF65-F5344CB8AC3E}">
        <p14:creationId xmlns:p14="http://schemas.microsoft.com/office/powerpoint/2010/main" val="752333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" name="Rectangle 4"/>
          <p:cNvSpPr/>
          <p:nvPr/>
        </p:nvSpPr>
        <p:spPr>
          <a:xfrm>
            <a:off x="-104078" y="-89740"/>
            <a:ext cx="12422458" cy="7041146"/>
          </a:xfrm>
          <a:prstGeom prst="rect">
            <a:avLst/>
          </a:prstGeom>
          <a:solidFill>
            <a:srgbClr val="6EB89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104078" y="-93406"/>
            <a:ext cx="12422458" cy="1880839"/>
          </a:xfrm>
          <a:prstGeom prst="rect">
            <a:avLst/>
          </a:prstGeom>
          <a:solidFill>
            <a:srgbClr val="69AF9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735980" y="758211"/>
            <a:ext cx="11582400" cy="4941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Goal-Driven Marketing Budget</a:t>
            </a:r>
            <a:endParaRPr lang="en-US" sz="4000" b="1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40552" y="2382559"/>
            <a:ext cx="831089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Monthly marketing budget = (marketing goal acquisition cost × marketing marketing goal #) + marketing operational costs </a:t>
            </a:r>
            <a:r>
              <a:rPr lang="en-US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</a:br>
            <a:endParaRPr lang="en-US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76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" name="Rectangle 4"/>
          <p:cNvSpPr/>
          <p:nvPr/>
        </p:nvSpPr>
        <p:spPr>
          <a:xfrm>
            <a:off x="-104078" y="-89740"/>
            <a:ext cx="12422458" cy="7041146"/>
          </a:xfrm>
          <a:prstGeom prst="rect">
            <a:avLst/>
          </a:prstGeom>
          <a:solidFill>
            <a:srgbClr val="6EB89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104078" y="-93406"/>
            <a:ext cx="12422458" cy="1880839"/>
          </a:xfrm>
          <a:prstGeom prst="rect">
            <a:avLst/>
          </a:prstGeom>
          <a:solidFill>
            <a:srgbClr val="69AF9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735980" y="758211"/>
            <a:ext cx="11582400" cy="4941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Goal-Driven Marketing Budget</a:t>
            </a:r>
            <a:endParaRPr lang="en-US" sz="4000" b="1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43050"/>
              </p:ext>
            </p:extLst>
          </p:nvPr>
        </p:nvGraphicFramePr>
        <p:xfrm>
          <a:off x="1807095" y="2503010"/>
          <a:ext cx="9768120" cy="3383280"/>
        </p:xfrm>
        <a:graphic>
          <a:graphicData uri="http://schemas.openxmlformats.org/drawingml/2006/table">
            <a:tbl>
              <a:tblPr bandRow="1">
                <a:tableStyleId>{0660B408-B3CF-4A94-85FC-2B1E0A45F4A2}</a:tableStyleId>
              </a:tblPr>
              <a:tblGrid>
                <a:gridCol w="814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4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4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40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40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40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40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40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40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401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1401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1401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99701">
                <a:tc>
                  <a:txBody>
                    <a:bodyPr/>
                    <a:lstStyle/>
                    <a:p>
                      <a:pPr algn="ctr"/>
                      <a:r>
                        <a:rPr lang="en-US" sz="1800" spc="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JAN.</a:t>
                      </a:r>
                      <a:endParaRPr lang="en-US" sz="1800" spc="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pc="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FEB.</a:t>
                      </a:r>
                      <a:endParaRPr lang="en-US" sz="1800" spc="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pc="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MAR.</a:t>
                      </a:r>
                      <a:endParaRPr lang="en-US" sz="1800" spc="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pc="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APR.</a:t>
                      </a:r>
                      <a:endParaRPr lang="en-US" sz="1800" spc="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pc="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MAY</a:t>
                      </a:r>
                      <a:endParaRPr lang="en-US" sz="1800" spc="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pc="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JUNE</a:t>
                      </a:r>
                      <a:endParaRPr lang="en-US" sz="1800" spc="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pc="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JULY</a:t>
                      </a:r>
                      <a:endParaRPr lang="en-US" sz="1800" spc="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pc="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AUG.</a:t>
                      </a:r>
                      <a:endParaRPr lang="en-US" sz="1800" spc="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pc="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SEPT.</a:t>
                      </a:r>
                      <a:endParaRPr lang="en-US" sz="1800" spc="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pc="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OCT.</a:t>
                      </a:r>
                      <a:endParaRPr lang="en-US" sz="1800" spc="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pc="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NOV.</a:t>
                      </a:r>
                      <a:endParaRPr lang="en-US" sz="1800" spc="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pc="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DEC.</a:t>
                      </a:r>
                      <a:endParaRPr lang="en-US" sz="1800" spc="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010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/>
                      </a:r>
                      <a:b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</a:b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###</a:t>
                      </a:r>
                      <a:endParaRPr lang="en-US" sz="280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/>
                      </a:r>
                      <a:b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</a:b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###</a:t>
                      </a:r>
                    </a:p>
                    <a:p>
                      <a:pPr algn="ctr"/>
                      <a:endParaRPr lang="en-US" sz="280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/>
                      </a:r>
                      <a:b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</a:b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###</a:t>
                      </a:r>
                    </a:p>
                    <a:p>
                      <a:pPr algn="ctr"/>
                      <a:endParaRPr lang="en-US" sz="280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/>
                      </a:r>
                      <a:b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</a:b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###</a:t>
                      </a:r>
                    </a:p>
                    <a:p>
                      <a:pPr algn="ctr"/>
                      <a:endParaRPr lang="en-US" sz="280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/>
                      </a:r>
                      <a:b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</a:b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###</a:t>
                      </a:r>
                    </a:p>
                    <a:p>
                      <a:pPr algn="ctr"/>
                      <a:endParaRPr lang="en-US" sz="280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/>
                      </a:r>
                      <a:b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</a:b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###</a:t>
                      </a:r>
                    </a:p>
                    <a:p>
                      <a:pPr algn="ctr"/>
                      <a:endParaRPr lang="en-US" sz="280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/>
                      </a:r>
                      <a:b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</a:b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###</a:t>
                      </a:r>
                    </a:p>
                    <a:p>
                      <a:pPr algn="ctr"/>
                      <a:endParaRPr lang="en-US" sz="280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/>
                      </a:r>
                      <a:b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</a:b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###</a:t>
                      </a:r>
                    </a:p>
                    <a:p>
                      <a:pPr algn="ctr"/>
                      <a:endParaRPr lang="en-US" sz="280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/>
                      </a:r>
                      <a:b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</a:b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###</a:t>
                      </a:r>
                    </a:p>
                    <a:p>
                      <a:pPr algn="ctr"/>
                      <a:endParaRPr lang="en-US" sz="280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/>
                      </a:r>
                      <a:b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</a:b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###</a:t>
                      </a:r>
                    </a:p>
                    <a:p>
                      <a:pPr algn="ctr"/>
                      <a:endParaRPr lang="en-US" sz="280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/>
                      </a:r>
                      <a:b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</a:b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###</a:t>
                      </a:r>
                    </a:p>
                    <a:p>
                      <a:pPr algn="ctr"/>
                      <a:endParaRPr lang="en-US" sz="280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/>
                      </a:r>
                      <a:b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</a:b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###</a:t>
                      </a:r>
                    </a:p>
                    <a:p>
                      <a:pPr algn="ctr"/>
                      <a:endParaRPr lang="en-US" sz="280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010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/>
                      </a:r>
                      <a:b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</a:b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$$$</a:t>
                      </a:r>
                    </a:p>
                    <a:p>
                      <a:pPr algn="ctr"/>
                      <a:endParaRPr lang="en-US" sz="280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/>
                      </a:r>
                      <a:b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</a:b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$$$</a:t>
                      </a:r>
                    </a:p>
                    <a:p>
                      <a:pPr algn="ctr"/>
                      <a:endParaRPr lang="en-US" sz="280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/>
                      </a:r>
                      <a:b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</a:b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$$$</a:t>
                      </a:r>
                    </a:p>
                    <a:p>
                      <a:pPr algn="ctr"/>
                      <a:endParaRPr lang="en-US" sz="280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/>
                      </a:r>
                      <a:b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</a:b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$$$</a:t>
                      </a:r>
                    </a:p>
                    <a:p>
                      <a:pPr algn="ctr"/>
                      <a:endParaRPr lang="en-US" sz="280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/>
                      </a:r>
                      <a:b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</a:b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$$$</a:t>
                      </a:r>
                    </a:p>
                    <a:p>
                      <a:pPr algn="ctr"/>
                      <a:endParaRPr lang="en-US" sz="280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/>
                      </a:r>
                      <a:b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</a:b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$$$</a:t>
                      </a:r>
                    </a:p>
                    <a:p>
                      <a:pPr algn="ctr"/>
                      <a:endParaRPr lang="en-US" sz="280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/>
                      </a:r>
                      <a:b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</a:b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$$$</a:t>
                      </a:r>
                    </a:p>
                    <a:p>
                      <a:pPr algn="ctr"/>
                      <a:endParaRPr lang="en-US" sz="280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/>
                      </a:r>
                      <a:b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</a:b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$$$</a:t>
                      </a:r>
                    </a:p>
                    <a:p>
                      <a:pPr algn="ctr"/>
                      <a:endParaRPr lang="en-US" sz="280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/>
                      </a:r>
                      <a:b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</a:b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$$$</a:t>
                      </a:r>
                    </a:p>
                    <a:p>
                      <a:pPr algn="ctr"/>
                      <a:endParaRPr lang="en-US" sz="280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/>
                      </a:r>
                      <a:b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</a:b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$$$</a:t>
                      </a:r>
                    </a:p>
                    <a:p>
                      <a:pPr algn="ctr"/>
                      <a:endParaRPr lang="en-US" sz="280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/>
                      </a:r>
                      <a:b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</a:b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$$$</a:t>
                      </a:r>
                    </a:p>
                    <a:p>
                      <a:pPr algn="ctr"/>
                      <a:endParaRPr lang="en-US" sz="280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/>
                      </a:r>
                      <a:b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</a:br>
                      <a:r>
                        <a:rPr lang="en-US" sz="2800" dirty="0" smtClean="0">
                          <a:solidFill>
                            <a:srgbClr val="433F57"/>
                          </a:solidFill>
                          <a:latin typeface="Bebas Neue" charset="0"/>
                          <a:ea typeface="Bebas Neue" charset="0"/>
                          <a:cs typeface="Bebas Neue" charset="0"/>
                        </a:rPr>
                        <a:t>$$$</a:t>
                      </a:r>
                    </a:p>
                    <a:p>
                      <a:pPr algn="ctr"/>
                      <a:endParaRPr lang="en-US" sz="2800" dirty="0">
                        <a:solidFill>
                          <a:srgbClr val="433F57"/>
                        </a:solidFill>
                        <a:latin typeface="Bebas Neue" charset="0"/>
                        <a:ea typeface="Bebas Neue" charset="0"/>
                        <a:cs typeface="Bebas Neue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12316" y="3447758"/>
            <a:ext cx="11683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Final Goal</a:t>
            </a:r>
            <a:endParaRPr lang="en-US" sz="1400" b="1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2315" y="4676604"/>
            <a:ext cx="11683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Monthly Budget</a:t>
            </a:r>
            <a:endParaRPr lang="en-US" sz="1400" b="1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225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558</Words>
  <Application>Microsoft Office PowerPoint</Application>
  <PresentationFormat>Widescreen</PresentationFormat>
  <Paragraphs>163</Paragraphs>
  <Slides>24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Bebas Neue</vt:lpstr>
      <vt:lpstr>Calibri</vt:lpstr>
      <vt:lpstr>Calibri Light</vt:lpstr>
      <vt:lpstr>Helvetica</vt:lpstr>
      <vt:lpstr>Office Theme</vt:lpstr>
      <vt:lpstr>Company Name’s Marketing Strategy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sbb</dc:creator>
  <cp:lastModifiedBy>HP</cp:lastModifiedBy>
  <cp:revision>15</cp:revision>
  <dcterms:created xsi:type="dcterms:W3CDTF">2017-09-20T15:44:11Z</dcterms:created>
  <dcterms:modified xsi:type="dcterms:W3CDTF">2020-05-12T13:32:46Z</dcterms:modified>
</cp:coreProperties>
</file>