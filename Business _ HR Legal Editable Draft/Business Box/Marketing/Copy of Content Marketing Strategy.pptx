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260" r:id="rId4"/>
    <p:sldId id="257" r:id="rId5"/>
    <p:sldId id="271" r:id="rId6"/>
    <p:sldId id="269" r:id="rId7"/>
    <p:sldId id="270" r:id="rId8"/>
    <p:sldId id="274" r:id="rId9"/>
    <p:sldId id="261" r:id="rId10"/>
    <p:sldId id="280" r:id="rId11"/>
    <p:sldId id="273" r:id="rId12"/>
    <p:sldId id="262" r:id="rId13"/>
    <p:sldId id="263" r:id="rId14"/>
    <p:sldId id="275" r:id="rId15"/>
    <p:sldId id="293" r:id="rId16"/>
    <p:sldId id="291" r:id="rId17"/>
    <p:sldId id="265" r:id="rId18"/>
    <p:sldId id="283" r:id="rId19"/>
    <p:sldId id="294" r:id="rId20"/>
    <p:sldId id="276" r:id="rId21"/>
    <p:sldId id="264" r:id="rId22"/>
    <p:sldId id="277" r:id="rId23"/>
    <p:sldId id="278" r:id="rId24"/>
    <p:sldId id="284" r:id="rId25"/>
    <p:sldId id="279" r:id="rId26"/>
    <p:sldId id="266" r:id="rId27"/>
    <p:sldId id="285" r:id="rId28"/>
    <p:sldId id="286" r:id="rId29"/>
    <p:sldId id="287" r:id="rId30"/>
    <p:sldId id="268" r:id="rId31"/>
    <p:sldId id="26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eonna Bergstrom" initials="BB" lastIdx="4" clrIdx="0">
    <p:extLst/>
  </p:cmAuthor>
  <p:cmAuthor id="2" name="Ben Sailer" initials="BS" lastIdx="17" clrIdx="1">
    <p:extLst/>
  </p:cmAuthor>
  <p:cmAuthor id="3" name="Ben Sailer" initials="BS [2]" lastIdx="1" clrIdx="2">
    <p:extLst/>
  </p:cmAuthor>
  <p:cmAuthor id="4" name="Ben Sailer" initials="BS [3]" lastIdx="1" clrIdx="3">
    <p:extLst/>
  </p:cmAuthor>
  <p:cmAuthor id="5" name="Ben Sailer" initials="BS [4]" lastIdx="1" clrIdx="4">
    <p:extLst/>
  </p:cmAuthor>
  <p:cmAuthor id="6" name="Ben Sailer" initials="BS [5]" lastIdx="1" clrIdx="5">
    <p:extLst/>
  </p:cmAuthor>
  <p:cmAuthor id="7" name="Ben Sailer" initials="BS [6]" lastIdx="1" clrIdx="6">
    <p:extLst/>
  </p:cmAuthor>
  <p:cmAuthor id="8" name="Ben Sailer" initials="BS [7]" lastIdx="1" clrIdx="7">
    <p:extLst/>
  </p:cmAuthor>
  <p:cmAuthor id="9" name="Ben Sailer" initials="BS [8]" lastIdx="1" clrIdx="8">
    <p:extLst/>
  </p:cmAuthor>
  <p:cmAuthor id="10" name="Ben Sailer" initials="BS [9]" lastIdx="1" clrIdx="9">
    <p:extLst/>
  </p:cmAuthor>
  <p:cmAuthor id="11" name="Ben Sailer" initials="BS [10]" lastIdx="1" clrIdx="10">
    <p:extLst/>
  </p:cmAuthor>
  <p:cmAuthor id="12" name="Ben Sailer" initials="BS [11]" lastIdx="1" clrIdx="11">
    <p:extLst/>
  </p:cmAuthor>
  <p:cmAuthor id="13" name="Ben Sailer" initials="BS [12]" lastIdx="1" clrIdx="12">
    <p:extLst/>
  </p:cmAuthor>
  <p:cmAuthor id="14" name="Ben Sailer" initials="BS [13]" lastIdx="1" clrIdx="13">
    <p:extLst/>
  </p:cmAuthor>
  <p:cmAuthor id="15" name="Ben Sailer" initials="BS [14]" lastIdx="1" clrIdx="14">
    <p:extLst/>
  </p:cmAuthor>
  <p:cmAuthor id="16" name="Ben Sailer" initials="BS [15]" lastIdx="1" clrIdx="15">
    <p:extLst/>
  </p:cmAuthor>
  <p:cmAuthor id="17" name="Ben Sailer" initials="BS [16]" lastIdx="1" clrIdx="16">
    <p:extLst/>
  </p:cmAuthor>
  <p:cmAuthor id="18" name="Ben Sailer" initials="BS [17]" lastIdx="1" clrIdx="17">
    <p:extLst/>
  </p:cmAuthor>
  <p:cmAuthor id="19" name="Ben Sailer" initials="BS [18]" lastIdx="1" clrIdx="18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717"/>
    <p:restoredTop sz="94643"/>
  </p:normalViewPr>
  <p:slideViewPr>
    <p:cSldViewPr snapToGrid="0" snapToObjects="1">
      <p:cViewPr varScale="1">
        <p:scale>
          <a:sx n="77" d="100"/>
          <a:sy n="77" d="100"/>
        </p:scale>
        <p:origin x="55" y="2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1-03T08:33:19.848" idx="1">
    <p:pos x="10" y="10"/>
    <p:text>Could we design an eye catching title slide here? Preferably in CoSchedule's theme colors.</p:text>
    <p:extLst>
      <p:ext uri="{C676402C-5697-4E1C-873F-D02D1690AC5C}">
        <p15:threadingInfo xmlns:p15="http://schemas.microsoft.com/office/powerpoint/2012/main" timeZoneBias="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5271D-6F06-E843-82C0-03B3814FC9E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A5C93-2E9D-4C45-84C8-26DC06304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23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0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0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6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1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8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2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2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1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6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55D90-6E11-1940-83CE-CB08951A30D3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F0420-AD85-AD42-A5C3-996857426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Content Marketing Strategy Template</a:t>
            </a:r>
            <a:endParaRPr lang="en-US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[Insert Company Name]</a:t>
            </a:r>
            <a:endParaRPr lang="en-US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34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Our Content Marketing Toolbox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List the tools that your content marketing team will use.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sz="2800" dirty="0" smtClean="0">
              <a:latin typeface="Helvetica" charset="0"/>
              <a:ea typeface="Helvetica" charset="0"/>
              <a:cs typeface="Helvetica" charset="0"/>
            </a:endParaRPr>
          </a:p>
          <a:p>
            <a:pPr lvl="1"/>
            <a:r>
              <a:rPr lang="en-US" sz="2800" dirty="0" smtClean="0">
                <a:latin typeface="Helvetica" charset="0"/>
                <a:ea typeface="Helvetica" charset="0"/>
                <a:cs typeface="Helvetica" charset="0"/>
              </a:rPr>
              <a:t>CMS:</a:t>
            </a:r>
          </a:p>
          <a:p>
            <a:pPr lvl="1"/>
            <a:r>
              <a:rPr lang="en-US" sz="2800" dirty="0" smtClean="0">
                <a:latin typeface="Helvetica" charset="0"/>
                <a:ea typeface="Helvetica" charset="0"/>
                <a:cs typeface="Helvetica" charset="0"/>
              </a:rPr>
              <a:t>Analytics:</a:t>
            </a:r>
          </a:p>
          <a:p>
            <a:pPr lvl="1"/>
            <a:r>
              <a:rPr lang="en-US" sz="2800" dirty="0" smtClean="0">
                <a:latin typeface="Helvetica" charset="0"/>
                <a:ea typeface="Helvetica" charset="0"/>
                <a:cs typeface="Helvetica" charset="0"/>
              </a:rPr>
              <a:t>Editorial Calendar:</a:t>
            </a:r>
          </a:p>
          <a:p>
            <a:pPr lvl="1"/>
            <a:r>
              <a:rPr lang="en-US" sz="2800" dirty="0" smtClean="0">
                <a:latin typeface="Helvetica" charset="0"/>
                <a:ea typeface="Helvetica" charset="0"/>
                <a:cs typeface="Helvetica" charset="0"/>
              </a:rPr>
              <a:t>Social Media Scheduling Tool:</a:t>
            </a:r>
          </a:p>
          <a:p>
            <a:pPr lvl="1"/>
            <a:r>
              <a:rPr lang="en-US" sz="2800" dirty="0" smtClean="0">
                <a:latin typeface="Helvetica" charset="0"/>
                <a:ea typeface="Helvetica" charset="0"/>
                <a:cs typeface="Helvetica" charset="0"/>
              </a:rPr>
              <a:t>SEO Tools:</a:t>
            </a:r>
          </a:p>
          <a:p>
            <a:pPr lvl="1"/>
            <a:r>
              <a:rPr lang="en-US" sz="2800" dirty="0" smtClean="0">
                <a:latin typeface="Helvetica" charset="0"/>
                <a:ea typeface="Helvetica" charset="0"/>
                <a:cs typeface="Helvetica" charset="0"/>
              </a:rPr>
              <a:t>Project Management Tool:</a:t>
            </a:r>
          </a:p>
        </p:txBody>
      </p:sp>
    </p:spTree>
    <p:extLst>
      <p:ext uri="{BB962C8B-B14F-4D97-AF65-F5344CB8AC3E}">
        <p14:creationId xmlns:p14="http://schemas.microsoft.com/office/powerpoint/2010/main" val="14813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Content Marketing Team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Use this section to identify which members of your marketing team are responsible for the different parts of your content marketing process.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07900"/>
              </p:ext>
            </p:extLst>
          </p:nvPr>
        </p:nvGraphicFramePr>
        <p:xfrm>
          <a:off x="838200" y="2218490"/>
          <a:ext cx="10335324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Project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Manager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Writer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Editor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Designer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Name: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Name: 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Name: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25203"/>
              </p:ext>
            </p:extLst>
          </p:nvPr>
        </p:nvGraphicFramePr>
        <p:xfrm>
          <a:off x="838200" y="4267435"/>
          <a:ext cx="10335324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3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Promotion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Manager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Content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Manager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SEO Specialist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Data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Analyst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For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Responsible For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Name: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Name: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Name: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Name: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21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Mission Statement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What is your company all about?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 smtClean="0">
                <a:latin typeface="Helvetica" charset="0"/>
                <a:ea typeface="Helvetica" charset="0"/>
                <a:cs typeface="Helvetica" charset="0"/>
              </a:rPr>
              <a:t>Write your mission statement here </a:t>
            </a:r>
            <a:r>
              <a:rPr lang="mr-IN" i="1" dirty="0" smtClean="0">
                <a:latin typeface="Helvetica" charset="0"/>
                <a:ea typeface="Helvetica" charset="0"/>
                <a:cs typeface="Helvetica" charset="0"/>
              </a:rPr>
              <a:t>…</a:t>
            </a:r>
            <a:endParaRPr lang="en-US" i="1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25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b="1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Content Marketing Goals</a:t>
            </a:r>
            <a:endParaRPr lang="en-US" b="1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89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Business Objectives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What overarching goals is your business hoping to reach?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Business Objective 1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Business Objective 2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Business Objective 3</a:t>
            </a:r>
          </a:p>
        </p:txBody>
      </p:sp>
    </p:spTree>
    <p:extLst>
      <p:ext uri="{BB962C8B-B14F-4D97-AF65-F5344CB8AC3E}">
        <p14:creationId xmlns:p14="http://schemas.microsoft.com/office/powerpoint/2010/main" val="9621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859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Content Marketing Goals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Set content marketing goals that will directly impact your business objectives.</a:t>
            </a:r>
            <a:endParaRPr lang="en-US" sz="20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3337"/>
            <a:ext cx="10515600" cy="4013626"/>
          </a:xfrm>
        </p:spPr>
        <p:txBody>
          <a:bodyPr/>
          <a:lstStyle/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Marketing Goal One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Marketing Goal Two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Marketing Goal Three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263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b="1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Audience Personas</a:t>
            </a:r>
            <a:endParaRPr lang="en-US" b="1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6046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Primary Audience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This section should identify the core persona of your target audience. These are the people that the majority of your marketing efforts should focus on.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Demographics: 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gender, age, ethnicity, industry, job, income.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Psychographics: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values, beliefs, habits, hobbies &amp; more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Challenges: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what struggles are they facing every day?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Pain Points: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what is happening in their life that our organization can fix?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What Drives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T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hem to Purchase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O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ur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roduct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: what do they need to see from us that would convince them to buy from us?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Where Do They Find Their Information: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internet, newspapers, ads, commercials, etc.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What Type of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C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ontent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D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o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T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hey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refer: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blogs, e-books, videos, social media posts, etc.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How Do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e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H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elp: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what content or resources can we provide to help our audience and convince them to buy.</a:t>
            </a:r>
            <a:endParaRPr lang="en-US" sz="2000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695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Secondary Audience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This section of your target audience is your secondary audience. These are buyers that don’t fit your primary audience but they could still convert with the right content.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Demographics: 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gender, age, ethnicity, industry, job, income.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Psychographics: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values, beliefs, habits, hobbies &amp; more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Challenges: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what struggles are they facing every day?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Pain Points: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what is happening in their life that our organization can fix?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What Drives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T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hem to Purchase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O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ur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roduct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: what do they need to see from us that would convince them to buy from us?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Where Do They Find Their Information: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internet, newspapers, ads, commercials, etc.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What Type of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C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ontent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D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o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T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hey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refer: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blogs, e-books, videos, social media posts, etc.</a:t>
            </a:r>
          </a:p>
          <a:p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How Do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e </a:t>
            </a:r>
            <a:r>
              <a:rPr lang="en-US" sz="2000" b="1" dirty="0">
                <a:latin typeface="Helvetica" charset="0"/>
                <a:ea typeface="Helvetica" charset="0"/>
                <a:cs typeface="Helvetica" charset="0"/>
              </a:rPr>
              <a:t>H</a:t>
            </a:r>
            <a:r>
              <a:rPr lang="en-US" sz="2000" b="1" dirty="0" smtClean="0">
                <a:latin typeface="Helvetica" charset="0"/>
                <a:ea typeface="Helvetica" charset="0"/>
                <a:cs typeface="Helvetica" charset="0"/>
              </a:rPr>
              <a:t>elp: </a:t>
            </a: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>what content or resources can we provide to help our audience and convince them to buy.</a:t>
            </a:r>
            <a:endParaRPr lang="en-US" sz="2000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82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Content Strategy</a:t>
            </a:r>
            <a:endParaRPr lang="en-US" b="1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9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Content Types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List what types of content that your organization will be publishing.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188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Type One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Type Two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Type Three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Type Four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Content Type Five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98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Promotional Channels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What channels are you going to promote your content on?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Promotional Channel One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Promotional Channel Two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Promotional Channel Three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>
              <a:lnSpc>
                <a:spcPct val="11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Promotional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Channel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Four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>
              <a:lnSpc>
                <a:spcPct val="11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Promotional Channel Five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7634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09683"/>
            <a:ext cx="10515600" cy="110683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[BRAND] Voice and Tone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What should your content sound like when your audience reads it?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8964"/>
            <a:ext cx="10515600" cy="3700532"/>
          </a:xfrm>
        </p:spPr>
        <p:txBody>
          <a:bodyPr/>
          <a:lstStyle/>
          <a:p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Voice:</a:t>
            </a:r>
          </a:p>
          <a:p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Tone:</a:t>
            </a:r>
          </a:p>
        </p:txBody>
      </p:sp>
    </p:spTree>
    <p:extLst>
      <p:ext uri="{BB962C8B-B14F-4D97-AF65-F5344CB8AC3E}">
        <p14:creationId xmlns:p14="http://schemas.microsoft.com/office/powerpoint/2010/main" val="2006460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Voice + Tone Examples</a:t>
            </a:r>
            <a:endParaRPr lang="en-US" b="1" dirty="0">
              <a:solidFill>
                <a:srgbClr val="ED7B57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Examples of On-Brand Voice: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Examples of On-Brand Tone: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57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Message Matrix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What is the core message your content should convey?</a:t>
            </a:r>
            <a:endParaRPr lang="en-US" i="1" dirty="0"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9702504"/>
              </p:ext>
            </p:extLst>
          </p:nvPr>
        </p:nvGraphicFramePr>
        <p:xfrm>
          <a:off x="490331" y="1825625"/>
          <a:ext cx="1086347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[BRAND] Message</a:t>
                      </a:r>
                      <a:r>
                        <a:rPr lang="en-US" b="1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Matrix</a:t>
                      </a:r>
                      <a:endParaRPr lang="en-US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Primary Message: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Secondary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Message 1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Secondary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Message 2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Secondary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Message 3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Secondary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Message 4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Secondary</a:t>
                      </a:r>
                      <a:r>
                        <a:rPr lang="en-US" b="0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Message 5</a:t>
                      </a:r>
                      <a:endParaRPr lang="en-US" b="0" i="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166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Core Topics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What key topics and themes are you going to write about?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066487"/>
              </p:ext>
            </p:extLst>
          </p:nvPr>
        </p:nvGraphicFramePr>
        <p:xfrm>
          <a:off x="838200" y="1690688"/>
          <a:ext cx="10515600" cy="3640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3038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Pillar One</a:t>
                      </a:r>
                      <a:endParaRPr lang="en-US" b="1" i="0" dirty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Pillar</a:t>
                      </a:r>
                      <a:r>
                        <a:rPr lang="en-US" b="1" i="0" baseline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 Two</a:t>
                      </a:r>
                      <a:endParaRPr lang="en-US" b="1" i="0" dirty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Pillar</a:t>
                      </a:r>
                      <a:r>
                        <a:rPr lang="en-US" b="0" i="0" baseline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b="1" i="0" baseline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Three</a:t>
                      </a:r>
                      <a:endParaRPr lang="en-US" b="1" i="0" dirty="0" smtClean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Pillar</a:t>
                      </a:r>
                      <a:r>
                        <a:rPr lang="en-US" b="1" i="0" baseline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 Four</a:t>
                      </a:r>
                      <a:endParaRPr lang="en-US" b="1" i="0" dirty="0" smtClean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801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0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Related Topic</a:t>
                      </a:r>
                    </a:p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46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Design Standards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What do designers need to do in order to get content ready for publish?</a:t>
            </a:r>
            <a:endParaRPr lang="en-US" sz="2200" i="1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1" dirty="0" smtClean="0">
              <a:latin typeface="Helvetica" charset="0"/>
              <a:ea typeface="Helvetica" charset="0"/>
              <a:cs typeface="Helvetica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Standard One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Standard Two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Standard Three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Standard Four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406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Branding Design Examples</a:t>
            </a:r>
            <a:endParaRPr lang="en-US" b="1" dirty="0">
              <a:solidFill>
                <a:srgbClr val="ED7B57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Do: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Don’t: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594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b="1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Content Creation Process</a:t>
            </a:r>
            <a:endParaRPr lang="en-US" b="1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67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667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Content Creation Process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What process will your content marketing team use to create the content you publish and how long do they have to get each step done?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9694"/>
            <a:ext cx="10515600" cy="4351338"/>
          </a:xfrm>
        </p:spPr>
        <p:txBody>
          <a:bodyPr numCol="2">
            <a:normAutofit fontScale="92500"/>
          </a:bodyPr>
          <a:lstStyle/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One: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Two: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Three: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Four: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Five: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Six: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Seven: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Eight:</a:t>
            </a:r>
          </a:p>
          <a:p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_ Number of Days Before Publish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_ Number of Days Before Publish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_ Number of Days Before Publish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_ Number of Days Before Publish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_ Number of Days Before Publish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_ Number of Days Before Publish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_ Number of Days Before Publish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_ Number of Days Before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Publish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49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7646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Editorial Planning Process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What steps does your content need to go through before it is ready for publish?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7903"/>
            <a:ext cx="10515600" cy="4351338"/>
          </a:xfrm>
        </p:spPr>
        <p:txBody>
          <a:bodyPr>
            <a:normAutofit/>
          </a:bodyPr>
          <a:lstStyle/>
          <a:p>
            <a:endParaRPr lang="en-US" sz="2600" dirty="0" smtClean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One: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Two: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Three: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Four: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Step Five: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94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0899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Publishing Schedule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How often are you going to publish your content?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66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Blog Posts</a:t>
            </a:r>
          </a:p>
          <a:p>
            <a:pPr lvl="1"/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Post x times per week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E-Books</a:t>
            </a:r>
          </a:p>
          <a:p>
            <a:pPr lvl="1"/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Post x times per quarter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Videos</a:t>
            </a:r>
          </a:p>
          <a:p>
            <a:pPr lvl="1"/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Post x times per week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Infographics</a:t>
            </a:r>
          </a:p>
          <a:p>
            <a:pPr lvl="1"/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Post x times per week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Social Campaigns</a:t>
            </a:r>
          </a:p>
          <a:p>
            <a:pPr lvl="1"/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Post x times per week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46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Sample Marketing Calendar</a:t>
            </a:r>
            <a:endParaRPr lang="en-US" b="1" dirty="0">
              <a:solidFill>
                <a:srgbClr val="ED7B57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79386"/>
              </p:ext>
            </p:extLst>
          </p:nvPr>
        </p:nvGraphicFramePr>
        <p:xfrm>
          <a:off x="668867" y="1690687"/>
          <a:ext cx="10883795" cy="42250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6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7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014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Publication date</a:t>
                      </a:r>
                      <a:endParaRPr lang="en-US" sz="1600" b="1" i="0" dirty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Article</a:t>
                      </a:r>
                      <a:r>
                        <a:rPr lang="en-US" sz="1600" b="1" i="0" baseline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 Title</a:t>
                      </a:r>
                      <a:endParaRPr lang="en-US" sz="1600" b="1" i="0" dirty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Content Pillar</a:t>
                      </a:r>
                      <a:endParaRPr lang="en-US" sz="1600" b="1" i="0" dirty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Format</a:t>
                      </a:r>
                      <a:endParaRPr lang="en-US" sz="1600" b="1" i="0" dirty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Distribution</a:t>
                      </a:r>
                      <a:r>
                        <a:rPr lang="en-US" sz="1600" b="1" i="0" baseline="0" dirty="0" smtClean="0">
                          <a:solidFill>
                            <a:schemeClr val="bg1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 Channels</a:t>
                      </a:r>
                      <a:endParaRPr lang="en-US" sz="1600" b="1" i="0" dirty="0">
                        <a:solidFill>
                          <a:schemeClr val="bg1"/>
                        </a:solidFill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742"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47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b="1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Content Promotion</a:t>
            </a:r>
            <a:endParaRPr lang="en-US" b="1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0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Promotional Tactics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How will your team promote your content?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489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Tactic One</a:t>
            </a:r>
          </a:p>
          <a:p>
            <a:pPr lvl="1"/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Frequency: 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Tactic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Two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lvl="1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Frequency: 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Tactic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Three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lvl="1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Frequency: 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Tactic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Four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lvl="1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Frequency: </a:t>
            </a:r>
          </a:p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Tactic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Five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lvl="1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Frequency: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704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Promotional Schedule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How often are you going to post new content across your promotion channels?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9879"/>
              </p:ext>
            </p:extLst>
          </p:nvPr>
        </p:nvGraphicFramePr>
        <p:xfrm>
          <a:off x="838200" y="2026347"/>
          <a:ext cx="10515600" cy="3705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3173"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Channel</a:t>
                      </a:r>
                      <a:endParaRPr lang="en-US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Objectives</a:t>
                      </a:r>
                      <a:endParaRPr lang="en-US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Target</a:t>
                      </a:r>
                      <a:r>
                        <a:rPr lang="en-US" b="1" i="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Audience</a:t>
                      </a:r>
                      <a:endParaRPr lang="en-US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CTA</a:t>
                      </a:r>
                      <a:endParaRPr lang="en-US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Frequency </a:t>
                      </a:r>
                      <a:endParaRPr lang="en-US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173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Blog/Website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173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Facebook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173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Twitter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173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LinkedIn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173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Pinterest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173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Email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173"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Other</a:t>
                      </a:r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064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atin typeface="Helvetica" charset="0"/>
                <a:ea typeface="Helvetica" charset="0"/>
                <a:cs typeface="Helvetica" charset="0"/>
              </a:rPr>
              <a:t>Measurement</a:t>
            </a:r>
            <a:endParaRPr lang="en-US" b="1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712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Measurement Framework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How are you going to measure and report on your success? 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What Will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eport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O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n?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Option One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Option Two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Option Three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How Often Will We Send Reports?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Frequency: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What Should Our Reports Look Like?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Visual One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Visual Two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Visual Three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482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KPIs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What are you going to measure your content against to indicate success?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KPI One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KPI Two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KPI Three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KPI Four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KPI Five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5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Metrics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What data points are you going to measure to indicate that you are reaching your goals?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Metric One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Metric Two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Metric Three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Metric Four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Metric Five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73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Content Scorecard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sz="2000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000" i="1" dirty="0" smtClean="0">
                <a:latin typeface="Helvetica" charset="0"/>
                <a:ea typeface="Helvetica" charset="0"/>
                <a:cs typeface="Helvetica" charset="0"/>
              </a:rPr>
              <a:t>What is the baseline that every piece of content that you publish needs to hit?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Blog Posts Will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eceive x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N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umber of Unique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age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V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iews.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Blog Posts Will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eceive x Number of Total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V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iews.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Blog Posts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ill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G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enerate x Amount of Revenue.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Emails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ill Receive x Number of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O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pens Per Email.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Social Campaigns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ill Get x% Engagement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er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ost.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Social Media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osts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ill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each x Number of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P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eople.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Videos Will Receive x Number of Views.</a:t>
            </a:r>
          </a:p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E-books Will Be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D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ownloaded x Number of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T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imes.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948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b="1" dirty="0" smtClean="0">
                <a:solidFill>
                  <a:srgbClr val="ED7B57"/>
                </a:solidFill>
                <a:latin typeface="Helvetica" charset="0"/>
                <a:ea typeface="Helvetica" charset="0"/>
                <a:cs typeface="Helvetica" charset="0"/>
              </a:rPr>
              <a:t>Key Contacts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latin typeface="Helvetica" charset="0"/>
                <a:ea typeface="Helvetica" charset="0"/>
                <a:cs typeface="Helvetica" charset="0"/>
              </a:rPr>
            </a:br>
            <a:r>
              <a:rPr lang="en-US" sz="2200" i="1" dirty="0" smtClean="0">
                <a:latin typeface="Helvetica" charset="0"/>
                <a:ea typeface="Helvetica" charset="0"/>
                <a:cs typeface="Helvetica" charset="0"/>
              </a:rPr>
              <a:t>Who should someone reach out to if they have questions on this strategy template?</a:t>
            </a:r>
            <a:endParaRPr lang="en-US" sz="2200" i="1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Here is who you need to reach out to if you have questions about this strategy guide.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	Name: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Phone: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Email: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	Name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Phone: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Email:</a:t>
            </a:r>
          </a:p>
        </p:txBody>
      </p:sp>
    </p:spTree>
    <p:extLst>
      <p:ext uri="{BB962C8B-B14F-4D97-AF65-F5344CB8AC3E}">
        <p14:creationId xmlns:p14="http://schemas.microsoft.com/office/powerpoint/2010/main" val="142444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12073</TotalTime>
  <Words>878</Words>
  <Application>Microsoft Office PowerPoint</Application>
  <PresentationFormat>Widescreen</PresentationFormat>
  <Paragraphs>242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Helvetica</vt:lpstr>
      <vt:lpstr>Helvetica Light</vt:lpstr>
      <vt:lpstr>Office Theme</vt:lpstr>
      <vt:lpstr>Content Marketing Strategy Template</vt:lpstr>
      <vt:lpstr>Our Content Marketing Toolbox List the tools that your content marketing team will use.</vt:lpstr>
      <vt:lpstr>Content Marketing Team  Use this section to identify which members of your marketing team are responsible for the different parts of your content marketing process.</vt:lpstr>
      <vt:lpstr>Mission Statement  What is your company all about?</vt:lpstr>
      <vt:lpstr> Content Marketing Goals</vt:lpstr>
      <vt:lpstr>Business Objectives What overarching goals is your business hoping to reach?</vt:lpstr>
      <vt:lpstr>Content Marketing Goals  Set content marketing goals that will directly impact your business objectives.</vt:lpstr>
      <vt:lpstr> Audience Personas</vt:lpstr>
      <vt:lpstr>Primary Audience  This section should identify the core persona of your target audience. These are the people that the majority of your marketing efforts should focus on.</vt:lpstr>
      <vt:lpstr>Secondary Audience  This section of your target audience is your secondary audience. These are buyers that don’t fit your primary audience but they could still convert with the right content.</vt:lpstr>
      <vt:lpstr>Content Strategy</vt:lpstr>
      <vt:lpstr>Content Types List what types of content that your organization will be publishing.</vt:lpstr>
      <vt:lpstr>Promotional Channels What channels are you going to promote your content on?</vt:lpstr>
      <vt:lpstr>[BRAND] Voice and Tone  What should your content sound like when your audience reads it?</vt:lpstr>
      <vt:lpstr>Voice + Tone Examples</vt:lpstr>
      <vt:lpstr>Message Matrix  What is the core message your content should convey?</vt:lpstr>
      <vt:lpstr>Core Topics  What key topics and themes are you going to write about?</vt:lpstr>
      <vt:lpstr>Design Standards What do designers need to do in order to get content ready for publish?</vt:lpstr>
      <vt:lpstr>Branding Design Examples</vt:lpstr>
      <vt:lpstr> Content Creation Process</vt:lpstr>
      <vt:lpstr>Content Creation Process  What process will your content marketing team use to create the content you publish and how long do they have to get each step done?</vt:lpstr>
      <vt:lpstr>Editorial Planning Process  What steps does your content need to go through before it is ready for publish?</vt:lpstr>
      <vt:lpstr>Publishing Schedule  How often are you going to publish your content?</vt:lpstr>
      <vt:lpstr>Sample Marketing Calendar</vt:lpstr>
      <vt:lpstr> Content Promotion</vt:lpstr>
      <vt:lpstr>Promotional Tactics How will your team promote your content?</vt:lpstr>
      <vt:lpstr>Promotional Schedule How often are you going to post new content across your promotion channels?</vt:lpstr>
      <vt:lpstr> Measurement</vt:lpstr>
      <vt:lpstr>Measurement Framework  How are you going to measure and report on your success? </vt:lpstr>
      <vt:lpstr>KPIs  What are you going to measure your content against to indicate success?</vt:lpstr>
      <vt:lpstr>Metrics  What data points are you going to measure to indicate that you are reaching your goals?</vt:lpstr>
      <vt:lpstr>Content Scorecard  What is the baseline that every piece of content that you publish needs to hit?</vt:lpstr>
      <vt:lpstr>Key Contacts Who should someone reach out to if they have questions on this strategy template?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Marketing Strategy Template</dc:title>
  <dc:creator>Breonna Bergstrom</dc:creator>
  <cp:lastModifiedBy>HP</cp:lastModifiedBy>
  <cp:revision>56</cp:revision>
  <cp:lastPrinted>2018-01-12T16:22:51Z</cp:lastPrinted>
  <dcterms:created xsi:type="dcterms:W3CDTF">2018-01-02T21:42:10Z</dcterms:created>
  <dcterms:modified xsi:type="dcterms:W3CDTF">2020-05-12T13:30:21Z</dcterms:modified>
</cp:coreProperties>
</file>