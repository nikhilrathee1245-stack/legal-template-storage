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2" r:id="rId15"/>
    <p:sldId id="273" r:id="rId1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70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70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70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70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70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70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70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70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70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3175" cap="flat">
              <a:solidFill>
                <a:srgbClr val="B8B8B8"/>
              </a:solidFill>
              <a:prstDash val="solid"/>
              <a:miter lim="400000"/>
            </a:ln>
          </a:top>
          <a:bottom>
            <a:ln w="3175" cap="flat">
              <a:solidFill>
                <a:srgbClr val="B8B8B8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929292"/>
              </a:solidFill>
              <a:prstDash val="solid"/>
              <a:miter lim="400000"/>
            </a:ln>
          </a:left>
          <a:right>
            <a:ln w="3175" cap="flat">
              <a:solidFill>
                <a:srgbClr val="929292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929292"/>
              </a:solidFill>
              <a:prstDash val="solid"/>
              <a:miter lim="400000"/>
            </a:ln>
          </a:insideH>
          <a:insideV>
            <a:ln w="3175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6" autoAdjust="0"/>
    <p:restoredTop sz="94660"/>
  </p:normalViewPr>
  <p:slideViewPr>
    <p:cSldViewPr snapToGrid="0">
      <p:cViewPr varScale="1">
        <p:scale>
          <a:sx n="77" d="100"/>
          <a:sy n="77" d="100"/>
        </p:scale>
        <p:origin x="16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151852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sz="half" idx="13"/>
          </p:nvPr>
        </p:nvSpPr>
        <p:spPr>
          <a:xfrm>
            <a:off x="1667183" y="1578186"/>
            <a:ext cx="9672321" cy="466005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338666" y="6292426"/>
            <a:ext cx="12327468" cy="107018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338666" y="7321973"/>
            <a:ext cx="12327468" cy="846667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948266" y="3637279"/>
            <a:ext cx="11108268" cy="2479042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7021856" y="1727199"/>
            <a:ext cx="5080002" cy="611632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880533" y="1727199"/>
            <a:ext cx="5452534" cy="2959948"/>
          </a:xfrm>
          <a:prstGeom prst="rect">
            <a:avLst/>
          </a:prstGeom>
        </p:spPr>
        <p:txBody>
          <a:bodyPr/>
          <a:lstStyle>
            <a:lvl1pPr>
              <a:defRPr sz="5800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880533" y="4700693"/>
            <a:ext cx="5452534" cy="3054774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xfrm>
            <a:off x="900853" y="1408853"/>
            <a:ext cx="11203094" cy="1219201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xfrm>
            <a:off x="900853" y="1408853"/>
            <a:ext cx="11203094" cy="1219201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xfrm>
            <a:off x="900853" y="2898986"/>
            <a:ext cx="11203094" cy="4958081"/>
          </a:xfrm>
          <a:prstGeom prst="rect">
            <a:avLst/>
          </a:prstGeom>
        </p:spPr>
        <p:txBody>
          <a:bodyPr anchor="ctr"/>
          <a:lstStyle>
            <a:lvl1pPr marL="449791" indent="-449791" algn="l">
              <a:spcBef>
                <a:spcPts val="4100"/>
              </a:spcBef>
              <a:buSzPct val="125000"/>
              <a:buChar char="•"/>
              <a:defRPr sz="3400"/>
            </a:lvl1pPr>
            <a:lvl2pPr marL="1084791" indent="-449791" algn="l">
              <a:spcBef>
                <a:spcPts val="4100"/>
              </a:spcBef>
              <a:buSzPct val="125000"/>
              <a:buChar char="•"/>
              <a:defRPr sz="3400"/>
            </a:lvl2pPr>
            <a:lvl3pPr marL="1719791" indent="-449791" algn="l">
              <a:spcBef>
                <a:spcPts val="4100"/>
              </a:spcBef>
              <a:buSzPct val="125000"/>
              <a:buChar char="•"/>
              <a:defRPr sz="3400"/>
            </a:lvl3pPr>
            <a:lvl4pPr marL="2354791" indent="-449791" algn="l">
              <a:spcBef>
                <a:spcPts val="4100"/>
              </a:spcBef>
              <a:buSzPct val="125000"/>
              <a:buChar char="•"/>
              <a:defRPr sz="3400"/>
            </a:lvl4pPr>
            <a:lvl5pPr marL="2989791" indent="-449791" algn="l">
              <a:spcBef>
                <a:spcPts val="4100"/>
              </a:spcBef>
              <a:buSzPct val="125000"/>
              <a:buChar char="•"/>
              <a:defRPr sz="3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quarter" idx="13"/>
          </p:nvPr>
        </p:nvSpPr>
        <p:spPr>
          <a:xfrm>
            <a:off x="7023946" y="2898986"/>
            <a:ext cx="5080002" cy="49580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xfrm>
            <a:off x="900853" y="1408853"/>
            <a:ext cx="11203094" cy="1219201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900853" y="2898986"/>
            <a:ext cx="5452534" cy="4958081"/>
          </a:xfrm>
          <a:prstGeom prst="rect">
            <a:avLst/>
          </a:prstGeom>
        </p:spPr>
        <p:txBody>
          <a:bodyPr anchor="ctr"/>
          <a:lstStyle>
            <a:lvl1pPr marL="382336" indent="-382336" algn="l">
              <a:spcBef>
                <a:spcPts val="3200"/>
              </a:spcBef>
              <a:buSzPct val="125000"/>
              <a:buChar char="•"/>
              <a:defRPr sz="2600"/>
            </a:lvl1pPr>
            <a:lvl2pPr marL="941136" indent="-382336" algn="l">
              <a:spcBef>
                <a:spcPts val="3200"/>
              </a:spcBef>
              <a:buSzPct val="125000"/>
              <a:buChar char="•"/>
              <a:defRPr sz="2600"/>
            </a:lvl2pPr>
            <a:lvl3pPr marL="1499936" indent="-382336" algn="l">
              <a:spcBef>
                <a:spcPts val="3200"/>
              </a:spcBef>
              <a:buSzPct val="125000"/>
              <a:buChar char="•"/>
              <a:defRPr sz="2600"/>
            </a:lvl3pPr>
            <a:lvl4pPr marL="2058736" indent="-382336" algn="l">
              <a:spcBef>
                <a:spcPts val="3200"/>
              </a:spcBef>
              <a:buSzPct val="125000"/>
              <a:buChar char="•"/>
              <a:defRPr sz="2600"/>
            </a:lvl4pPr>
            <a:lvl5pPr marL="2617536" indent="-382336" algn="l">
              <a:spcBef>
                <a:spcPts val="3200"/>
              </a:spcBef>
              <a:buSzPct val="125000"/>
              <a:buChar char="•"/>
              <a:defRPr sz="2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900853" y="2167466"/>
            <a:ext cx="11203094" cy="5418668"/>
          </a:xfrm>
          <a:prstGeom prst="rect">
            <a:avLst/>
          </a:prstGeom>
        </p:spPr>
        <p:txBody>
          <a:bodyPr anchor="ctr"/>
          <a:lstStyle>
            <a:lvl1pPr marL="449791" indent="-449791" algn="l">
              <a:spcBef>
                <a:spcPts val="4100"/>
              </a:spcBef>
              <a:buSzPct val="125000"/>
              <a:buChar char="•"/>
              <a:defRPr sz="3400"/>
            </a:lvl1pPr>
            <a:lvl2pPr marL="1084791" indent="-449791" algn="l">
              <a:spcBef>
                <a:spcPts val="4100"/>
              </a:spcBef>
              <a:buSzPct val="125000"/>
              <a:buChar char="•"/>
              <a:defRPr sz="3400"/>
            </a:lvl2pPr>
            <a:lvl3pPr marL="1719791" indent="-449791" algn="l">
              <a:spcBef>
                <a:spcPts val="4100"/>
              </a:spcBef>
              <a:buSzPct val="125000"/>
              <a:buChar char="•"/>
              <a:defRPr sz="3400"/>
            </a:lvl3pPr>
            <a:lvl4pPr marL="2354791" indent="-449791" algn="l">
              <a:spcBef>
                <a:spcPts val="4100"/>
              </a:spcBef>
              <a:buSzPct val="125000"/>
              <a:buChar char="•"/>
              <a:defRPr sz="3400"/>
            </a:lvl4pPr>
            <a:lvl5pPr marL="2989791" indent="-449791" algn="l">
              <a:spcBef>
                <a:spcPts val="4100"/>
              </a:spcBef>
              <a:buSzPct val="125000"/>
              <a:buChar char="•"/>
              <a:defRPr sz="3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8405706" y="4978400"/>
            <a:ext cx="3948855" cy="295994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8405707" y="1822026"/>
            <a:ext cx="3948854" cy="295994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sz="half" idx="15"/>
          </p:nvPr>
        </p:nvSpPr>
        <p:spPr>
          <a:xfrm>
            <a:off x="643466" y="1822026"/>
            <a:ext cx="7559041" cy="611632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1273386" y="5994400"/>
            <a:ext cx="10464802" cy="389264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200" i="1"/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1273386" y="4399192"/>
            <a:ext cx="10464802" cy="562362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-1" y="1219199"/>
            <a:ext cx="13004801" cy="7315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48266" y="2445173"/>
            <a:ext cx="11108268" cy="24790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48266" y="4991946"/>
            <a:ext cx="11108268" cy="84666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352590" y="8195733"/>
            <a:ext cx="292846" cy="276894"/>
          </a:xfrm>
          <a:prstGeom prst="rect">
            <a:avLst/>
          </a:prstGeom>
          <a:ln w="3175">
            <a:miter lim="400000"/>
          </a:ln>
        </p:spPr>
        <p:txBody>
          <a:bodyPr wrap="none" lIns="27093" tIns="27093" rIns="27093" bIns="27093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2286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4572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6858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9144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11430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13716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6002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8288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/>
        </p:nvSpPr>
        <p:spPr>
          <a:xfrm>
            <a:off x="6495274" y="7300462"/>
            <a:ext cx="5765404" cy="2453138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0" name="Shape 120"/>
          <p:cNvSpPr/>
          <p:nvPr/>
        </p:nvSpPr>
        <p:spPr>
          <a:xfrm>
            <a:off x="8438744" y="8441366"/>
            <a:ext cx="3342878" cy="32145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1600" b="0" spc="688" baseline="-75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IN" sz="2600" spc="900" dirty="0"/>
              <a:t>Companyweb.com</a:t>
            </a:r>
          </a:p>
        </p:txBody>
      </p:sp>
      <p:sp>
        <p:nvSpPr>
          <p:cNvPr id="122" name="Shape 122"/>
          <p:cNvSpPr/>
          <p:nvPr/>
        </p:nvSpPr>
        <p:spPr>
          <a:xfrm>
            <a:off x="1118177" y="5920840"/>
            <a:ext cx="3758623" cy="111923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/>
          <a:p>
            <a:pPr algn="l">
              <a:lnSpc>
                <a:spcPct val="200000"/>
              </a:lnSpc>
              <a:defRPr sz="1800" b="0" spc="486" baseline="111111">
                <a:solidFill>
                  <a:srgbClr val="2C2C2C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sz="2800" spc="620" baseline="111000" dirty="0"/>
              <a:t>A Film Proposal</a:t>
            </a:r>
          </a:p>
          <a:p>
            <a:pPr algn="l">
              <a:lnSpc>
                <a:spcPct val="200000"/>
              </a:lnSpc>
              <a:defRPr sz="1800" b="0" spc="486" baseline="111111">
                <a:solidFill>
                  <a:srgbClr val="2C2C2C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sz="2800" spc="620" baseline="111000" dirty="0"/>
              <a:t>by </a:t>
            </a:r>
            <a:r>
              <a:rPr lang="en-IN" sz="2800" spc="620" baseline="111000" dirty="0" err="1"/>
              <a:t>companyname</a:t>
            </a:r>
            <a:endParaRPr sz="2800" spc="620" baseline="111000" dirty="0"/>
          </a:p>
        </p:txBody>
      </p:sp>
      <p:sp>
        <p:nvSpPr>
          <p:cNvPr id="123" name="Shape 123"/>
          <p:cNvSpPr/>
          <p:nvPr/>
        </p:nvSpPr>
        <p:spPr>
          <a:xfrm>
            <a:off x="707310" y="8764018"/>
            <a:ext cx="3013842" cy="295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1600" b="0" spc="432">
                <a:solidFill>
                  <a:srgbClr val="454142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dirty="0"/>
              <a:t>October 19, 2026</a:t>
            </a:r>
          </a:p>
        </p:txBody>
      </p:sp>
      <p:pic>
        <p:nvPicPr>
          <p:cNvPr id="125" name="photo-1542216581123-75e6d9ca6a62-filtered.jpeg"/>
          <p:cNvPicPr>
            <a:picLocks noChangeAspect="1"/>
          </p:cNvPicPr>
          <p:nvPr/>
        </p:nvPicPr>
        <p:blipFill>
          <a:blip r:embed="rId2"/>
          <a:srcRect l="6849" t="21624" r="5473" b="222"/>
          <a:stretch>
            <a:fillRect/>
          </a:stretch>
        </p:blipFill>
        <p:spPr>
          <a:xfrm flipH="1">
            <a:off x="6515100" y="-80103"/>
            <a:ext cx="5765336" cy="7193573"/>
          </a:xfrm>
          <a:prstGeom prst="rect">
            <a:avLst/>
          </a:prstGeom>
          <a:ln w="3175">
            <a:miter lim="400000"/>
          </a:ln>
        </p:spPr>
      </p:pic>
      <p:sp>
        <p:nvSpPr>
          <p:cNvPr id="126" name="Shape 126"/>
          <p:cNvSpPr/>
          <p:nvPr/>
        </p:nvSpPr>
        <p:spPr>
          <a:xfrm>
            <a:off x="1118177" y="3390289"/>
            <a:ext cx="3758623" cy="219207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12700">
              <a:defRPr sz="6500" b="0" spc="-129">
                <a:solidFill>
                  <a:srgbClr val="29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l"/>
            <a:r>
              <a:rPr lang="en-IN" dirty="0"/>
              <a:t>Lorem Ipsum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/>
        </p:nvSpPr>
        <p:spPr>
          <a:xfrm>
            <a:off x="8215460" y="5582360"/>
            <a:ext cx="4901708" cy="3436890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9" name="Shape 129"/>
          <p:cNvSpPr/>
          <p:nvPr/>
        </p:nvSpPr>
        <p:spPr>
          <a:xfrm>
            <a:off x="924500" y="5220289"/>
            <a:ext cx="3095533" cy="3589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b="0" spc="200">
                <a:solidFill>
                  <a:srgbClr val="34343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Synopsis</a:t>
            </a:r>
          </a:p>
        </p:txBody>
      </p:sp>
      <p:sp>
        <p:nvSpPr>
          <p:cNvPr id="130" name="Shape 130"/>
          <p:cNvSpPr/>
          <p:nvPr/>
        </p:nvSpPr>
        <p:spPr>
          <a:xfrm>
            <a:off x="879587" y="4471801"/>
            <a:ext cx="2169359" cy="3589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b="0" spc="200">
                <a:solidFill>
                  <a:srgbClr val="34343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Storyline</a:t>
            </a:r>
          </a:p>
        </p:txBody>
      </p:sp>
      <p:sp>
        <p:nvSpPr>
          <p:cNvPr id="131" name="Shape 131"/>
          <p:cNvSpPr/>
          <p:nvPr/>
        </p:nvSpPr>
        <p:spPr>
          <a:xfrm>
            <a:off x="909981" y="5968777"/>
            <a:ext cx="2608501" cy="3589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b="0" spc="200">
                <a:solidFill>
                  <a:srgbClr val="34343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Project Timeline</a:t>
            </a:r>
          </a:p>
        </p:txBody>
      </p:sp>
      <p:sp>
        <p:nvSpPr>
          <p:cNvPr id="132" name="Shape 132"/>
          <p:cNvSpPr/>
          <p:nvPr/>
        </p:nvSpPr>
        <p:spPr>
          <a:xfrm>
            <a:off x="915378" y="6717266"/>
            <a:ext cx="1396021" cy="3589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 algn="l">
              <a:defRPr b="0" spc="200">
                <a:solidFill>
                  <a:srgbClr val="34343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dirty="0"/>
              <a:t>Actors</a:t>
            </a:r>
          </a:p>
        </p:txBody>
      </p:sp>
      <p:sp>
        <p:nvSpPr>
          <p:cNvPr id="133" name="Shape 133"/>
          <p:cNvSpPr/>
          <p:nvPr/>
        </p:nvSpPr>
        <p:spPr>
          <a:xfrm>
            <a:off x="924838" y="7465754"/>
            <a:ext cx="2124108" cy="3589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 algn="l">
              <a:defRPr b="0" spc="200">
                <a:solidFill>
                  <a:srgbClr val="34343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dirty="0"/>
              <a:t>Testimonials</a:t>
            </a:r>
          </a:p>
        </p:txBody>
      </p:sp>
      <p:sp>
        <p:nvSpPr>
          <p:cNvPr id="134" name="Shape 134"/>
          <p:cNvSpPr/>
          <p:nvPr/>
        </p:nvSpPr>
        <p:spPr>
          <a:xfrm>
            <a:off x="752587" y="3088806"/>
            <a:ext cx="4115435" cy="676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4000" b="0" spc="400">
                <a:solidFill>
                  <a:srgbClr val="34343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dirty="0"/>
              <a:t>Categories</a:t>
            </a:r>
          </a:p>
        </p:txBody>
      </p:sp>
      <p:pic>
        <p:nvPicPr>
          <p:cNvPr id="135" name="photo-1534950581589-28511e00ed67.jpeg"/>
          <p:cNvPicPr>
            <a:picLocks noChangeAspect="1"/>
          </p:cNvPicPr>
          <p:nvPr/>
        </p:nvPicPr>
        <p:blipFill>
          <a:blip r:embed="rId2"/>
          <a:srcRect l="4806" t="6624" r="4806" b="12115"/>
          <a:stretch>
            <a:fillRect/>
          </a:stretch>
        </p:blipFill>
        <p:spPr>
          <a:xfrm>
            <a:off x="6493933" y="706371"/>
            <a:ext cx="5732667" cy="7011923"/>
          </a:xfrm>
          <a:prstGeom prst="rect">
            <a:avLst/>
          </a:prstGeom>
          <a:ln w="3175">
            <a:miter lim="400000"/>
          </a:ln>
        </p:spPr>
      </p:pic>
      <p:sp>
        <p:nvSpPr>
          <p:cNvPr id="136" name="Shape 136"/>
          <p:cNvSpPr/>
          <p:nvPr/>
        </p:nvSpPr>
        <p:spPr>
          <a:xfrm>
            <a:off x="7482284" y="8254581"/>
            <a:ext cx="4658916" cy="100080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hoto-1543427663-93b817b10081-filtered.jpeg"/>
          <p:cNvPicPr>
            <a:picLocks noChangeAspect="1"/>
          </p:cNvPicPr>
          <p:nvPr/>
        </p:nvPicPr>
        <p:blipFill>
          <a:blip r:embed="rId2"/>
          <a:srcRect r="7716"/>
          <a:stretch>
            <a:fillRect/>
          </a:stretch>
        </p:blipFill>
        <p:spPr>
          <a:xfrm>
            <a:off x="-494441" y="0"/>
            <a:ext cx="6000619" cy="9753601"/>
          </a:xfrm>
          <a:prstGeom prst="rect">
            <a:avLst/>
          </a:prstGeom>
          <a:ln w="3175">
            <a:miter lim="400000"/>
          </a:ln>
        </p:spPr>
      </p:pic>
      <p:sp>
        <p:nvSpPr>
          <p:cNvPr id="138" name="Shape 138"/>
          <p:cNvSpPr/>
          <p:nvPr/>
        </p:nvSpPr>
        <p:spPr>
          <a:xfrm>
            <a:off x="5747526" y="-69691"/>
            <a:ext cx="7440748" cy="1739874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9" name="Shape 139"/>
          <p:cNvSpPr/>
          <p:nvPr/>
        </p:nvSpPr>
        <p:spPr>
          <a:xfrm>
            <a:off x="6890940" y="3474640"/>
            <a:ext cx="4894660" cy="475600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 algn="just" defTabSz="457200">
              <a:lnSpc>
                <a:spcPct val="120000"/>
              </a:lnSpc>
              <a:defRPr sz="1300" b="0" baseline="92307">
                <a:solidFill>
                  <a:srgbClr val="292525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>
              <a:lnSpc>
                <a:spcPct val="235000"/>
              </a:lnSpc>
            </a:pPr>
            <a:r>
              <a:rPr lang="en-US" sz="1800" spc="40" baseline="92000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sz="1800" spc="40" baseline="92000" dirty="0" err="1"/>
              <a:t>popularised</a:t>
            </a:r>
            <a:r>
              <a:rPr lang="en-US" sz="1800" spc="40" baseline="92000" dirty="0"/>
              <a:t> in the 1960s with the release of </a:t>
            </a:r>
            <a:r>
              <a:rPr lang="en-US" sz="1800" spc="40" baseline="92000" dirty="0" err="1"/>
              <a:t>Letraset</a:t>
            </a:r>
            <a:r>
              <a:rPr lang="en-US" sz="1800" spc="40" baseline="92000" dirty="0"/>
              <a:t> sheets containing Lorem Ipsum passages, and more recently with desktop publishing software like Aldus PageMaker including versions of Lorem Ipsum.</a:t>
            </a:r>
            <a:endParaRPr sz="1800" spc="40" baseline="92000" dirty="0"/>
          </a:p>
        </p:txBody>
      </p:sp>
      <p:sp>
        <p:nvSpPr>
          <p:cNvPr id="140" name="Shape 140"/>
          <p:cNvSpPr/>
          <p:nvPr/>
        </p:nvSpPr>
        <p:spPr>
          <a:xfrm>
            <a:off x="6890940" y="2806793"/>
            <a:ext cx="3856392" cy="6212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12700">
              <a:defRPr sz="4000" b="0" spc="0">
                <a:solidFill>
                  <a:srgbClr val="29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l"/>
            <a:r>
              <a:rPr lang="en-IN" dirty="0"/>
              <a:t>Lorem Ipsum</a:t>
            </a:r>
          </a:p>
          <a:p>
            <a:pPr algn="l"/>
            <a:endParaRPr dirty="0"/>
          </a:p>
        </p:txBody>
      </p:sp>
      <p:sp>
        <p:nvSpPr>
          <p:cNvPr id="142" name="Shape 142"/>
          <p:cNvSpPr/>
          <p:nvPr/>
        </p:nvSpPr>
        <p:spPr>
          <a:xfrm>
            <a:off x="643910" y="8765701"/>
            <a:ext cx="3174656" cy="30093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>
              <a:defRPr sz="1600" b="0" spc="64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 algn="l"/>
            <a:r>
              <a:rPr lang="en-IN" dirty="0"/>
              <a:t>Company name</a:t>
            </a:r>
            <a:r>
              <a:rPr dirty="0"/>
              <a:t>.</a:t>
            </a:r>
          </a:p>
        </p:txBody>
      </p:sp>
      <p:sp>
        <p:nvSpPr>
          <p:cNvPr id="143" name="Shape 143"/>
          <p:cNvSpPr/>
          <p:nvPr/>
        </p:nvSpPr>
        <p:spPr>
          <a:xfrm>
            <a:off x="643910" y="7195899"/>
            <a:ext cx="1833007" cy="13749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4200" b="0" spc="42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dirty="0"/>
              <a:t>Storyline</a:t>
            </a:r>
          </a:p>
        </p:txBody>
      </p:sp>
      <p:sp>
        <p:nvSpPr>
          <p:cNvPr id="144" name="Shape 144"/>
          <p:cNvSpPr/>
          <p:nvPr/>
        </p:nvSpPr>
        <p:spPr>
          <a:xfrm>
            <a:off x="8517138" y="643456"/>
            <a:ext cx="4093962" cy="30093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>
              <a:defRPr sz="1600" b="0" spc="64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IN" dirty="0"/>
              <a:t>Lorem Ipsum</a:t>
            </a:r>
          </a:p>
        </p:txBody>
      </p:sp>
      <p:sp>
        <p:nvSpPr>
          <p:cNvPr id="145" name="Shape 145"/>
          <p:cNvSpPr/>
          <p:nvPr/>
        </p:nvSpPr>
        <p:spPr>
          <a:xfrm>
            <a:off x="9717484" y="8864181"/>
            <a:ext cx="4658916" cy="100080"/>
          </a:xfrm>
          <a:prstGeom prst="rect">
            <a:avLst/>
          </a:prstGeom>
          <a:solidFill>
            <a:srgbClr val="34343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6" name="Shape 146"/>
          <p:cNvSpPr/>
          <p:nvPr/>
        </p:nvSpPr>
        <p:spPr>
          <a:xfrm>
            <a:off x="5517356" y="739094"/>
            <a:ext cx="2204244" cy="11119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/>
        </p:nvSpPr>
        <p:spPr>
          <a:xfrm>
            <a:off x="459960" y="6462893"/>
            <a:ext cx="12728314" cy="3436890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9" name="Shape 149"/>
          <p:cNvSpPr/>
          <p:nvPr/>
        </p:nvSpPr>
        <p:spPr>
          <a:xfrm>
            <a:off x="970362" y="2384602"/>
            <a:ext cx="3283463" cy="85031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just" defTabSz="457200">
              <a:lnSpc>
                <a:spcPct val="120000"/>
              </a:lnSpc>
              <a:defRPr sz="1300" b="0" baseline="92307">
                <a:solidFill>
                  <a:srgbClr val="292525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>
              <a:lnSpc>
                <a:spcPct val="235000"/>
              </a:lnSpc>
            </a:pPr>
            <a:r>
              <a:rPr lang="en-US" sz="1800" dirty="0"/>
              <a:t>Lorem Ipsum is simply dummy text of the printing</a:t>
            </a:r>
            <a:endParaRPr sz="1800" dirty="0"/>
          </a:p>
        </p:txBody>
      </p:sp>
      <p:sp>
        <p:nvSpPr>
          <p:cNvPr id="150" name="Shape 150"/>
          <p:cNvSpPr/>
          <p:nvPr/>
        </p:nvSpPr>
        <p:spPr>
          <a:xfrm>
            <a:off x="961515" y="1165416"/>
            <a:ext cx="2169986" cy="5875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3400" b="0" spc="34">
                <a:solidFill>
                  <a:srgbClr val="29252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t>Theme</a:t>
            </a:r>
          </a:p>
        </p:txBody>
      </p:sp>
      <p:sp>
        <p:nvSpPr>
          <p:cNvPr id="151" name="Shape 151"/>
          <p:cNvSpPr/>
          <p:nvPr/>
        </p:nvSpPr>
        <p:spPr>
          <a:xfrm>
            <a:off x="953175" y="3789276"/>
            <a:ext cx="2169987" cy="587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3400" b="0" spc="34">
                <a:solidFill>
                  <a:srgbClr val="29252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t>Tone</a:t>
            </a:r>
          </a:p>
        </p:txBody>
      </p:sp>
      <p:sp>
        <p:nvSpPr>
          <p:cNvPr id="152" name="Shape 152"/>
          <p:cNvSpPr/>
          <p:nvPr/>
        </p:nvSpPr>
        <p:spPr>
          <a:xfrm>
            <a:off x="1014968" y="5009194"/>
            <a:ext cx="3264258" cy="85031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 algn="just" defTabSz="457200">
              <a:lnSpc>
                <a:spcPct val="120000"/>
              </a:lnSpc>
              <a:defRPr sz="1300" b="0" baseline="92307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>
              <a:lnSpc>
                <a:spcPct val="235000"/>
              </a:lnSpc>
            </a:pPr>
            <a:r>
              <a:rPr lang="en-US" sz="1800" dirty="0"/>
              <a:t>Lorem Ipsum is simply dummy text of the printing</a:t>
            </a:r>
            <a:endParaRPr sz="1800" dirty="0"/>
          </a:p>
        </p:txBody>
      </p:sp>
      <p:sp>
        <p:nvSpPr>
          <p:cNvPr id="153" name="Shape 153"/>
          <p:cNvSpPr/>
          <p:nvPr/>
        </p:nvSpPr>
        <p:spPr>
          <a:xfrm>
            <a:off x="5389581" y="7074432"/>
            <a:ext cx="3074994" cy="587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3400" b="0" spc="34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t>Logline</a:t>
            </a:r>
          </a:p>
        </p:txBody>
      </p:sp>
      <p:sp>
        <p:nvSpPr>
          <p:cNvPr id="154" name="Shape 154"/>
          <p:cNvSpPr/>
          <p:nvPr/>
        </p:nvSpPr>
        <p:spPr>
          <a:xfrm>
            <a:off x="5389581" y="7976136"/>
            <a:ext cx="6980219" cy="85031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 algn="just" defTabSz="457200">
              <a:lnSpc>
                <a:spcPct val="120000"/>
              </a:lnSpc>
              <a:defRPr sz="1300" b="0" baseline="92307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>
              <a:lnSpc>
                <a:spcPct val="235000"/>
              </a:lnSpc>
            </a:pPr>
            <a:r>
              <a:rPr lang="en-US" sz="1800" spc="60" baseline="92000" dirty="0"/>
              <a:t>It is a long established fact that a reader will be distracted by the readable content of a page when looking at its layout. The point of using Lorem Ipsum</a:t>
            </a:r>
            <a:endParaRPr sz="1800" spc="60" baseline="92000" dirty="0"/>
          </a:p>
        </p:txBody>
      </p:sp>
      <p:sp>
        <p:nvSpPr>
          <p:cNvPr id="155" name="Shape 155"/>
          <p:cNvSpPr/>
          <p:nvPr/>
        </p:nvSpPr>
        <p:spPr>
          <a:xfrm>
            <a:off x="635344" y="8800626"/>
            <a:ext cx="3085756" cy="30093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>
              <a:defRPr sz="1600" b="0" spc="64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IN" dirty="0"/>
              <a:t>Company name</a:t>
            </a:r>
            <a:endParaRPr dirty="0"/>
          </a:p>
        </p:txBody>
      </p:sp>
      <p:sp>
        <p:nvSpPr>
          <p:cNvPr id="156" name="Shape 156"/>
          <p:cNvSpPr/>
          <p:nvPr/>
        </p:nvSpPr>
        <p:spPr>
          <a:xfrm>
            <a:off x="-268619" y="7858356"/>
            <a:ext cx="3689153" cy="86540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57" name="photo-1561022107-23ba5b910e02-filtered.jpeg"/>
          <p:cNvPicPr>
            <a:picLocks noChangeAspect="1"/>
          </p:cNvPicPr>
          <p:nvPr/>
        </p:nvPicPr>
        <p:blipFill>
          <a:blip r:embed="rId2"/>
          <a:srcRect l="2367" t="18221" b="14275"/>
          <a:stretch>
            <a:fillRect/>
          </a:stretch>
        </p:blipFill>
        <p:spPr>
          <a:xfrm>
            <a:off x="5422899" y="-114300"/>
            <a:ext cx="7618934" cy="6584008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/>
          <p:nvPr/>
        </p:nvSpPr>
        <p:spPr>
          <a:xfrm>
            <a:off x="9293042" y="-146182"/>
            <a:ext cx="3843537" cy="10045965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0" name="Shape 160"/>
          <p:cNvSpPr/>
          <p:nvPr/>
        </p:nvSpPr>
        <p:spPr>
          <a:xfrm>
            <a:off x="658782" y="652502"/>
            <a:ext cx="2428319" cy="295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>
              <a:defRPr sz="1600" b="0" spc="640">
                <a:solidFill>
                  <a:srgbClr val="2C2C2C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dirty="0"/>
              <a:t>The Company</a:t>
            </a:r>
          </a:p>
        </p:txBody>
      </p:sp>
      <p:sp>
        <p:nvSpPr>
          <p:cNvPr id="161" name="Shape 161"/>
          <p:cNvSpPr/>
          <p:nvPr/>
        </p:nvSpPr>
        <p:spPr>
          <a:xfrm>
            <a:off x="1079188" y="4543544"/>
            <a:ext cx="2971455" cy="325212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/>
          <a:p>
            <a:pPr algn="just" defTabSz="457200">
              <a:lnSpc>
                <a:spcPct val="190000"/>
              </a:lnSpc>
              <a:defRPr b="0" baseline="6000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sz="2800" spc="40" baseline="60000" dirty="0"/>
              <a:t>Skins</a:t>
            </a:r>
          </a:p>
          <a:p>
            <a:pPr algn="just" defTabSz="457200">
              <a:lnSpc>
                <a:spcPct val="190000"/>
              </a:lnSpc>
              <a:defRPr b="0" baseline="6000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sz="2800" spc="40" baseline="60000" dirty="0"/>
              <a:t>Breaking Bad</a:t>
            </a:r>
          </a:p>
          <a:p>
            <a:pPr algn="just" defTabSz="457200">
              <a:lnSpc>
                <a:spcPct val="190000"/>
              </a:lnSpc>
              <a:defRPr b="0" baseline="6000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sz="2800" spc="40" baseline="60000" dirty="0"/>
              <a:t>Moonlight</a:t>
            </a:r>
          </a:p>
          <a:p>
            <a:pPr algn="just" defTabSz="457200">
              <a:lnSpc>
                <a:spcPct val="190000"/>
              </a:lnSpc>
              <a:defRPr b="0" baseline="6000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sz="2800" spc="40" baseline="60000" dirty="0"/>
              <a:t>Slumdog Millionaire</a:t>
            </a:r>
          </a:p>
          <a:p>
            <a:pPr algn="just" defTabSz="457200">
              <a:lnSpc>
                <a:spcPct val="190000"/>
              </a:lnSpc>
              <a:defRPr b="0" baseline="6000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sz="2800" spc="40" baseline="60000" dirty="0"/>
              <a:t>The Fault In Our Stars</a:t>
            </a:r>
          </a:p>
          <a:p>
            <a:pPr algn="just" defTabSz="457200">
              <a:lnSpc>
                <a:spcPct val="190000"/>
              </a:lnSpc>
              <a:defRPr b="0" baseline="6000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sz="2800" spc="40" baseline="60000" dirty="0"/>
              <a:t>The Butterfly Effect</a:t>
            </a:r>
          </a:p>
        </p:txBody>
      </p:sp>
      <p:sp>
        <p:nvSpPr>
          <p:cNvPr id="162" name="Shape 162"/>
          <p:cNvSpPr/>
          <p:nvPr/>
        </p:nvSpPr>
        <p:spPr>
          <a:xfrm>
            <a:off x="1002988" y="2270502"/>
            <a:ext cx="3666470" cy="16543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3400" b="0" spc="34">
                <a:solidFill>
                  <a:srgbClr val="29252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t>Styling &amp; Inspiration from other Films</a:t>
            </a:r>
          </a:p>
        </p:txBody>
      </p:sp>
      <p:sp>
        <p:nvSpPr>
          <p:cNvPr id="163" name="Shape 163"/>
          <p:cNvSpPr/>
          <p:nvPr/>
        </p:nvSpPr>
        <p:spPr>
          <a:xfrm>
            <a:off x="495644" y="8799208"/>
            <a:ext cx="3369272" cy="30093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>
              <a:defRPr sz="1600" b="0" spc="64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IN" dirty="0"/>
              <a:t>Company Name</a:t>
            </a:r>
            <a:endParaRPr dirty="0"/>
          </a:p>
        </p:txBody>
      </p:sp>
      <p:pic>
        <p:nvPicPr>
          <p:cNvPr id="164" name="photo-1544119369-a9e18536b714.jpeg"/>
          <p:cNvPicPr>
            <a:picLocks noChangeAspect="1"/>
          </p:cNvPicPr>
          <p:nvPr/>
        </p:nvPicPr>
        <p:blipFill>
          <a:blip r:embed="rId2"/>
          <a:srcRect l="1417" t="45556" r="1417" b="37704"/>
          <a:stretch>
            <a:fillRect/>
          </a:stretch>
        </p:blipFill>
        <p:spPr>
          <a:xfrm>
            <a:off x="6519333" y="1845733"/>
            <a:ext cx="5747214" cy="1481932"/>
          </a:xfrm>
          <a:prstGeom prst="rect">
            <a:avLst/>
          </a:prstGeom>
          <a:ln w="3175">
            <a:miter lim="400000"/>
          </a:ln>
        </p:spPr>
      </p:pic>
      <p:pic>
        <p:nvPicPr>
          <p:cNvPr id="165" name="photo-1520872542484-e35da5446294.jpeg"/>
          <p:cNvPicPr>
            <a:picLocks noChangeAspect="1"/>
          </p:cNvPicPr>
          <p:nvPr/>
        </p:nvPicPr>
        <p:blipFill>
          <a:blip r:embed="rId3"/>
          <a:srcRect l="1945" t="30181" r="1066" b="30181"/>
          <a:stretch>
            <a:fillRect/>
          </a:stretch>
        </p:blipFill>
        <p:spPr>
          <a:xfrm>
            <a:off x="6519333" y="3445933"/>
            <a:ext cx="5747214" cy="1481932"/>
          </a:xfrm>
          <a:prstGeom prst="rect">
            <a:avLst/>
          </a:prstGeom>
          <a:ln w="3175">
            <a:miter lim="400000"/>
          </a:ln>
        </p:spPr>
      </p:pic>
      <p:pic>
        <p:nvPicPr>
          <p:cNvPr id="166" name="photo-1534950581589-28511e00ed67.jpeg"/>
          <p:cNvPicPr>
            <a:picLocks noChangeAspect="1"/>
          </p:cNvPicPr>
          <p:nvPr/>
        </p:nvPicPr>
        <p:blipFill>
          <a:blip r:embed="rId4"/>
          <a:srcRect l="4514" t="71251" r="15317" b="13555"/>
          <a:stretch>
            <a:fillRect/>
          </a:stretch>
        </p:blipFill>
        <p:spPr>
          <a:xfrm>
            <a:off x="6519333" y="5046133"/>
            <a:ext cx="5747214" cy="1481932"/>
          </a:xfrm>
          <a:prstGeom prst="rect">
            <a:avLst/>
          </a:prstGeom>
          <a:ln w="3175">
            <a:miter lim="400000"/>
          </a:ln>
        </p:spPr>
      </p:pic>
      <p:pic>
        <p:nvPicPr>
          <p:cNvPr id="167" name="photo-1542388582-82bd66ff40ac.jpeg"/>
          <p:cNvPicPr>
            <a:picLocks noChangeAspect="1"/>
          </p:cNvPicPr>
          <p:nvPr/>
        </p:nvPicPr>
        <p:blipFill>
          <a:blip r:embed="rId5"/>
          <a:srcRect l="3568" t="8313" r="1460" b="48163"/>
          <a:stretch>
            <a:fillRect/>
          </a:stretch>
        </p:blipFill>
        <p:spPr>
          <a:xfrm>
            <a:off x="6519333" y="6646333"/>
            <a:ext cx="5747214" cy="1481932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/>
        </p:nvSpPr>
        <p:spPr>
          <a:xfrm>
            <a:off x="726810" y="674449"/>
            <a:ext cx="1697568" cy="295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>
              <a:defRPr sz="1600" b="0">
                <a:solidFill>
                  <a:srgbClr val="454142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t>Project Timeline</a:t>
            </a:r>
          </a:p>
        </p:txBody>
      </p:sp>
      <p:sp>
        <p:nvSpPr>
          <p:cNvPr id="170" name="Shape 170"/>
          <p:cNvSpPr/>
          <p:nvPr/>
        </p:nvSpPr>
        <p:spPr>
          <a:xfrm>
            <a:off x="2636497" y="6003502"/>
            <a:ext cx="1343534" cy="12606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/>
          <a:p>
            <a:pPr algn="l">
              <a:defRPr sz="1500" b="0"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dirty="0"/>
              <a:t>Hiring &amp; finalization of cast &amp; crew.</a:t>
            </a:r>
          </a:p>
          <a:p>
            <a:pPr algn="l">
              <a:defRPr sz="1500" b="0"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endParaRPr dirty="0"/>
          </a:p>
        </p:txBody>
      </p:sp>
      <p:sp>
        <p:nvSpPr>
          <p:cNvPr id="172" name="Shape 172"/>
          <p:cNvSpPr/>
          <p:nvPr/>
        </p:nvSpPr>
        <p:spPr>
          <a:xfrm>
            <a:off x="2684356" y="5259705"/>
            <a:ext cx="295488" cy="295487"/>
          </a:xfrm>
          <a:prstGeom prst="rect">
            <a:avLst/>
          </a:prstGeom>
          <a:solidFill>
            <a:srgbClr val="34343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73" name="Shape 173"/>
          <p:cNvSpPr/>
          <p:nvPr/>
        </p:nvSpPr>
        <p:spPr>
          <a:xfrm>
            <a:off x="5131223" y="5259705"/>
            <a:ext cx="295487" cy="295487"/>
          </a:xfrm>
          <a:prstGeom prst="rect">
            <a:avLst/>
          </a:prstGeom>
          <a:solidFill>
            <a:srgbClr val="34343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74" name="Shape 174"/>
          <p:cNvSpPr/>
          <p:nvPr/>
        </p:nvSpPr>
        <p:spPr>
          <a:xfrm>
            <a:off x="7578090" y="5259705"/>
            <a:ext cx="295487" cy="295487"/>
          </a:xfrm>
          <a:prstGeom prst="rect">
            <a:avLst/>
          </a:prstGeom>
          <a:solidFill>
            <a:srgbClr val="34343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75" name="Shape 175"/>
          <p:cNvSpPr/>
          <p:nvPr/>
        </p:nvSpPr>
        <p:spPr>
          <a:xfrm>
            <a:off x="10024956" y="5259705"/>
            <a:ext cx="295487" cy="295487"/>
          </a:xfrm>
          <a:prstGeom prst="rect">
            <a:avLst/>
          </a:prstGeom>
          <a:solidFill>
            <a:srgbClr val="34343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76" name="Shape 176"/>
          <p:cNvSpPr/>
          <p:nvPr/>
        </p:nvSpPr>
        <p:spPr>
          <a:xfrm>
            <a:off x="672788" y="1842068"/>
            <a:ext cx="3666470" cy="11209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3400" b="0" spc="34">
                <a:solidFill>
                  <a:srgbClr val="29252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t>Pre-Production (3 Months)</a:t>
            </a:r>
          </a:p>
        </p:txBody>
      </p:sp>
      <p:sp>
        <p:nvSpPr>
          <p:cNvPr id="177" name="Shape 177"/>
          <p:cNvSpPr/>
          <p:nvPr/>
        </p:nvSpPr>
        <p:spPr>
          <a:xfrm>
            <a:off x="5108677" y="3786505"/>
            <a:ext cx="1864513" cy="7780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1500" b="0"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t>Press release &amp; preparation of media contact list.</a:t>
            </a:r>
          </a:p>
        </p:txBody>
      </p:sp>
      <p:sp>
        <p:nvSpPr>
          <p:cNvPr id="178" name="Shape 178"/>
          <p:cNvSpPr/>
          <p:nvPr/>
        </p:nvSpPr>
        <p:spPr>
          <a:xfrm>
            <a:off x="9976635" y="3576955"/>
            <a:ext cx="1628263" cy="10193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1500" b="0"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t>Procuring rentals for equipment &amp; materials.</a:t>
            </a:r>
          </a:p>
        </p:txBody>
      </p:sp>
      <p:sp>
        <p:nvSpPr>
          <p:cNvPr id="179" name="Shape 179"/>
          <p:cNvSpPr/>
          <p:nvPr/>
        </p:nvSpPr>
        <p:spPr>
          <a:xfrm>
            <a:off x="7549938" y="6120103"/>
            <a:ext cx="1864513" cy="7780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1500" b="0"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t>Guaranteeing access to filming locations.</a:t>
            </a:r>
          </a:p>
        </p:txBody>
      </p:sp>
      <p:sp>
        <p:nvSpPr>
          <p:cNvPr id="180" name="Shape 180"/>
          <p:cNvSpPr/>
          <p:nvPr/>
        </p:nvSpPr>
        <p:spPr>
          <a:xfrm>
            <a:off x="-438944" y="5357409"/>
            <a:ext cx="13882689" cy="100080"/>
          </a:xfrm>
          <a:prstGeom prst="rect">
            <a:avLst/>
          </a:prstGeom>
          <a:solidFill>
            <a:srgbClr val="34343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" name="Shape 163">
            <a:extLst>
              <a:ext uri="{FF2B5EF4-FFF2-40B4-BE49-F238E27FC236}">
                <a16:creationId xmlns:a16="http://schemas.microsoft.com/office/drawing/2014/main" id="{0F3ADB3C-A4A6-424D-B6B7-2AAEAE8470C5}"/>
              </a:ext>
            </a:extLst>
          </p:cNvPr>
          <p:cNvSpPr/>
          <p:nvPr/>
        </p:nvSpPr>
        <p:spPr>
          <a:xfrm>
            <a:off x="495644" y="8799208"/>
            <a:ext cx="3369272" cy="30093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>
              <a:defRPr sz="1600" b="0" spc="64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IN" dirty="0"/>
              <a:t>Company Name</a:t>
            </a:r>
            <a:endParaRPr dirty="0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/>
        </p:nvSpPr>
        <p:spPr>
          <a:xfrm>
            <a:off x="701410" y="4876800"/>
            <a:ext cx="4659730" cy="226538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 algn="l" defTabSz="457200">
              <a:lnSpc>
                <a:spcPct val="120000"/>
              </a:lnSpc>
              <a:defRPr b="0" baseline="6000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2800" spc="80" dirty="0"/>
              <a:t>There are many variations of passages of Lorem Ipsum available, but the majority have suffered alteration in some form</a:t>
            </a:r>
            <a:endParaRPr sz="2800" spc="80" dirty="0"/>
          </a:p>
        </p:txBody>
      </p:sp>
      <p:sp>
        <p:nvSpPr>
          <p:cNvPr id="196" name="Shape 196"/>
          <p:cNvSpPr/>
          <p:nvPr/>
        </p:nvSpPr>
        <p:spPr>
          <a:xfrm>
            <a:off x="700845" y="3083302"/>
            <a:ext cx="3691473" cy="14511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4500" b="0" spc="45">
                <a:solidFill>
                  <a:srgbClr val="29252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t>Original Soundtrack</a:t>
            </a:r>
          </a:p>
        </p:txBody>
      </p:sp>
      <p:sp>
        <p:nvSpPr>
          <p:cNvPr id="197" name="Shape 197"/>
          <p:cNvSpPr/>
          <p:nvPr/>
        </p:nvSpPr>
        <p:spPr>
          <a:xfrm>
            <a:off x="8981099" y="6369711"/>
            <a:ext cx="4155480" cy="3530072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98" name="photo-1459232940206-e614670fece3.jpeg"/>
          <p:cNvPicPr>
            <a:picLocks noChangeAspect="1"/>
          </p:cNvPicPr>
          <p:nvPr/>
        </p:nvPicPr>
        <p:blipFill>
          <a:blip r:embed="rId2"/>
          <a:srcRect l="33219" t="26277" r="28953" b="1705"/>
          <a:stretch>
            <a:fillRect/>
          </a:stretch>
        </p:blipFill>
        <p:spPr>
          <a:xfrm>
            <a:off x="6307666" y="1754915"/>
            <a:ext cx="4919399" cy="6243771"/>
          </a:xfrm>
          <a:prstGeom prst="rect">
            <a:avLst/>
          </a:prstGeom>
          <a:ln w="3175">
            <a:miter lim="400000"/>
          </a:ln>
        </p:spPr>
      </p:pic>
      <p:sp>
        <p:nvSpPr>
          <p:cNvPr id="199" name="Shape 199"/>
          <p:cNvSpPr/>
          <p:nvPr/>
        </p:nvSpPr>
        <p:spPr>
          <a:xfrm>
            <a:off x="726810" y="674449"/>
            <a:ext cx="1697568" cy="295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>
              <a:defRPr sz="1600" b="0">
                <a:solidFill>
                  <a:srgbClr val="454142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t>Project Timeline</a:t>
            </a:r>
          </a:p>
        </p:txBody>
      </p:sp>
      <p:sp>
        <p:nvSpPr>
          <p:cNvPr id="8" name="Shape 163">
            <a:extLst>
              <a:ext uri="{FF2B5EF4-FFF2-40B4-BE49-F238E27FC236}">
                <a16:creationId xmlns:a16="http://schemas.microsoft.com/office/drawing/2014/main" id="{282B7FC8-90EF-47AA-8649-40AB21D9BEE9}"/>
              </a:ext>
            </a:extLst>
          </p:cNvPr>
          <p:cNvSpPr/>
          <p:nvPr/>
        </p:nvSpPr>
        <p:spPr>
          <a:xfrm>
            <a:off x="495644" y="8799208"/>
            <a:ext cx="3369272" cy="30093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>
              <a:defRPr sz="1600" b="0" spc="64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IN" dirty="0"/>
              <a:t>Company Name</a:t>
            </a:r>
            <a:endParaRPr dirty="0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/>
          <p:nvPr/>
        </p:nvSpPr>
        <p:spPr>
          <a:xfrm>
            <a:off x="-108066" y="8221662"/>
            <a:ext cx="6580090" cy="1678120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3" name="Shape 203"/>
          <p:cNvSpPr/>
          <p:nvPr/>
        </p:nvSpPr>
        <p:spPr>
          <a:xfrm>
            <a:off x="5336136" y="4156236"/>
            <a:ext cx="2381078" cy="9812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 algn="l">
              <a:defRPr sz="6000" b="0" spc="60">
                <a:solidFill>
                  <a:srgbClr val="29252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pPr algn="ctr"/>
            <a:r>
              <a:rPr dirty="0"/>
              <a:t>Cast</a:t>
            </a:r>
          </a:p>
        </p:txBody>
      </p:sp>
      <p:sp>
        <p:nvSpPr>
          <p:cNvPr id="205" name="Shape 205"/>
          <p:cNvSpPr/>
          <p:nvPr/>
        </p:nvSpPr>
        <p:spPr>
          <a:xfrm>
            <a:off x="-31717" y="4592425"/>
            <a:ext cx="3367584" cy="108910"/>
          </a:xfrm>
          <a:prstGeom prst="rect">
            <a:avLst/>
          </a:prstGeom>
          <a:solidFill>
            <a:srgbClr val="34343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6" name="Shape 206"/>
          <p:cNvSpPr/>
          <p:nvPr/>
        </p:nvSpPr>
        <p:spPr>
          <a:xfrm>
            <a:off x="726810" y="674449"/>
            <a:ext cx="1697568" cy="295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>
              <a:defRPr sz="1600" b="0">
                <a:solidFill>
                  <a:srgbClr val="454142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t>Project Timeline</a:t>
            </a:r>
          </a:p>
        </p:txBody>
      </p:sp>
      <p:sp>
        <p:nvSpPr>
          <p:cNvPr id="207" name="Shape 207"/>
          <p:cNvSpPr/>
          <p:nvPr/>
        </p:nvSpPr>
        <p:spPr>
          <a:xfrm>
            <a:off x="9717484" y="4596840"/>
            <a:ext cx="3367584" cy="108910"/>
          </a:xfrm>
          <a:prstGeom prst="rect">
            <a:avLst/>
          </a:prstGeom>
          <a:solidFill>
            <a:srgbClr val="34343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Shape 163">
            <a:extLst>
              <a:ext uri="{FF2B5EF4-FFF2-40B4-BE49-F238E27FC236}">
                <a16:creationId xmlns:a16="http://schemas.microsoft.com/office/drawing/2014/main" id="{D2C4B636-7B46-4939-80F7-BF76D8FD2F12}"/>
              </a:ext>
            </a:extLst>
          </p:cNvPr>
          <p:cNvSpPr/>
          <p:nvPr/>
        </p:nvSpPr>
        <p:spPr>
          <a:xfrm>
            <a:off x="495644" y="8799208"/>
            <a:ext cx="3369272" cy="30093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>
              <a:defRPr sz="1600" b="0" spc="64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IN" dirty="0">
                <a:solidFill>
                  <a:schemeClr val="bg1"/>
                </a:solidFill>
              </a:rPr>
              <a:t>Company Name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/>
          <p:nvPr/>
        </p:nvSpPr>
        <p:spPr>
          <a:xfrm>
            <a:off x="11534352" y="-146183"/>
            <a:ext cx="1671805" cy="10045966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1" name="Shape 221"/>
          <p:cNvSpPr/>
          <p:nvPr/>
        </p:nvSpPr>
        <p:spPr>
          <a:xfrm>
            <a:off x="-141866" y="-146183"/>
            <a:ext cx="6613890" cy="10045966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2" name="Shape 222"/>
          <p:cNvSpPr/>
          <p:nvPr/>
        </p:nvSpPr>
        <p:spPr>
          <a:xfrm>
            <a:off x="4687923" y="719666"/>
            <a:ext cx="7572109" cy="366676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3" name="Shape 223"/>
          <p:cNvSpPr/>
          <p:nvPr/>
        </p:nvSpPr>
        <p:spPr>
          <a:xfrm>
            <a:off x="4687923" y="5334000"/>
            <a:ext cx="7572109" cy="366676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4" name="Shape 224"/>
          <p:cNvSpPr/>
          <p:nvPr/>
        </p:nvSpPr>
        <p:spPr>
          <a:xfrm>
            <a:off x="5149617" y="6529600"/>
            <a:ext cx="6305006" cy="22707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just" defTabSz="457200">
              <a:lnSpc>
                <a:spcPct val="120000"/>
              </a:lnSpc>
              <a:defRPr sz="1300" b="0" baseline="92307">
                <a:solidFill>
                  <a:srgbClr val="292525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>
              <a:lnSpc>
                <a:spcPct val="240000"/>
              </a:lnSpc>
            </a:pPr>
            <a:r>
              <a:rPr sz="1800" spc="40" baseline="92000" dirty="0"/>
              <a:t>Jeffrey McGruder (Ryan) - Was crowned Best Director for The Young</a:t>
            </a:r>
            <a:r>
              <a:rPr lang="en-US" sz="1800" spc="40" baseline="92000" dirty="0"/>
              <a:t>                      </a:t>
            </a:r>
            <a:r>
              <a:rPr sz="1800" spc="40" baseline="92000" dirty="0"/>
              <a:t>Thespians Academe Film Fest for his work on a short film called, “Skippy”, Dream of Tomorrow is Jeff’s first full-length feature film to direct.  His experience mostly focused on directing shorts &amp; artistic music videos that </a:t>
            </a:r>
            <a:r>
              <a:rPr lang="en-US" sz="1800" spc="40" baseline="92000" dirty="0"/>
              <a:t>                         </a:t>
            </a:r>
            <a:r>
              <a:rPr sz="1800" spc="40" baseline="92000" dirty="0"/>
              <a:t>you may be familiar with.</a:t>
            </a:r>
          </a:p>
        </p:txBody>
      </p:sp>
      <p:sp>
        <p:nvSpPr>
          <p:cNvPr id="225" name="Shape 225"/>
          <p:cNvSpPr/>
          <p:nvPr/>
        </p:nvSpPr>
        <p:spPr>
          <a:xfrm>
            <a:off x="5095861" y="5952357"/>
            <a:ext cx="5585361" cy="4351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2500" b="0" spc="25">
                <a:solidFill>
                  <a:srgbClr val="29252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rPr spc="0"/>
              <a:t>Jeffrey McGruder (Ryan)</a:t>
            </a:r>
          </a:p>
        </p:txBody>
      </p:sp>
      <p:sp>
        <p:nvSpPr>
          <p:cNvPr id="226" name="Shape 226"/>
          <p:cNvSpPr/>
          <p:nvPr/>
        </p:nvSpPr>
        <p:spPr>
          <a:xfrm>
            <a:off x="5168720" y="2192573"/>
            <a:ext cx="6305006" cy="175473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just" defTabSz="457200">
              <a:lnSpc>
                <a:spcPct val="120000"/>
              </a:lnSpc>
              <a:defRPr sz="1300" b="0" baseline="92307">
                <a:solidFill>
                  <a:srgbClr val="292525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>
              <a:lnSpc>
                <a:spcPct val="240000"/>
              </a:lnSpc>
            </a:pPr>
            <a:r>
              <a:rPr sz="1800" spc="40" baseline="92000" dirty="0"/>
              <a:t>Shelia Ingersoll (Jane)- Though this is her first feature film, Sheila has gained high praises from director, Dewey Hewitt, for being such a believable actress.  She has also had her fair share of experience in the theatre world back in her hometown of Columbus, Ohio.</a:t>
            </a:r>
          </a:p>
        </p:txBody>
      </p:sp>
      <p:sp>
        <p:nvSpPr>
          <p:cNvPr id="227" name="Shape 227"/>
          <p:cNvSpPr/>
          <p:nvPr/>
        </p:nvSpPr>
        <p:spPr>
          <a:xfrm>
            <a:off x="5120147" y="1558634"/>
            <a:ext cx="5372702" cy="4351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2500" b="0" spc="25">
                <a:solidFill>
                  <a:srgbClr val="29252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rPr spc="0" dirty="0"/>
              <a:t>Shelia Ingersoll (Jane)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E2E0F1-70EF-4898-BB60-EF1C1A5A1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25" y="755572"/>
            <a:ext cx="2957524" cy="34952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04A6A8-5AAF-42CA-B8F7-8BCE455E2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25" y="5419753"/>
            <a:ext cx="2957524" cy="349525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/>
          <p:nvPr/>
        </p:nvSpPr>
        <p:spPr>
          <a:xfrm>
            <a:off x="8738031" y="6297844"/>
            <a:ext cx="3102416" cy="266696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 algn="l" defTabSz="325120">
              <a:lnSpc>
                <a:spcPct val="120000"/>
              </a:lnSpc>
              <a:defRPr sz="1400" b="0" spc="0" baseline="28571"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>
              <a:lnSpc>
                <a:spcPct val="180000"/>
              </a:lnSpc>
            </a:pPr>
            <a:r>
              <a:rPr lang="en-US" sz="1800" spc="120" baseline="29000" dirty="0"/>
              <a:t>There are many variations of passages of Lorem Ipsum available, but the majority have suffered alteration in some form, by injected </a:t>
            </a:r>
            <a:r>
              <a:rPr lang="en-US" sz="1800" spc="120" baseline="29000" dirty="0" err="1"/>
              <a:t>humour</a:t>
            </a:r>
            <a:r>
              <a:rPr lang="en-US" sz="1800" spc="120" baseline="29000" dirty="0"/>
              <a:t>, or </a:t>
            </a:r>
            <a:r>
              <a:rPr lang="en-US" sz="1800" spc="120" baseline="29000" dirty="0" err="1"/>
              <a:t>randomised</a:t>
            </a:r>
            <a:r>
              <a:rPr lang="en-US" sz="1800" spc="120" baseline="29000" dirty="0"/>
              <a:t> words which don't look even slightly believable. If you are going to use a passage of Lorem Ipsum</a:t>
            </a:r>
            <a:endParaRPr sz="1800" spc="120" baseline="29000" dirty="0"/>
          </a:p>
        </p:txBody>
      </p:sp>
      <p:sp>
        <p:nvSpPr>
          <p:cNvPr id="232" name="Shape 232"/>
          <p:cNvSpPr/>
          <p:nvPr/>
        </p:nvSpPr>
        <p:spPr>
          <a:xfrm>
            <a:off x="6775006" y="7557921"/>
            <a:ext cx="308188" cy="308188"/>
          </a:xfrm>
          <a:prstGeom prst="rect">
            <a:avLst/>
          </a:prstGeom>
          <a:solidFill>
            <a:srgbClr val="92929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3" name="Shape 233"/>
          <p:cNvSpPr/>
          <p:nvPr/>
        </p:nvSpPr>
        <p:spPr>
          <a:xfrm>
            <a:off x="6775006" y="8116721"/>
            <a:ext cx="308188" cy="308188"/>
          </a:xfrm>
          <a:prstGeom prst="rect">
            <a:avLst/>
          </a:prstGeom>
          <a:solidFill>
            <a:srgbClr val="D5D5D5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4" name="Shape 234"/>
          <p:cNvSpPr/>
          <p:nvPr/>
        </p:nvSpPr>
        <p:spPr>
          <a:xfrm>
            <a:off x="6775006" y="6433971"/>
            <a:ext cx="308188" cy="308188"/>
          </a:xfrm>
          <a:prstGeom prst="rect">
            <a:avLst/>
          </a:prstGeom>
          <a:solidFill>
            <a:srgbClr val="1D1D1A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5" name="Shape 235"/>
          <p:cNvSpPr/>
          <p:nvPr/>
        </p:nvSpPr>
        <p:spPr>
          <a:xfrm>
            <a:off x="6775006" y="6992771"/>
            <a:ext cx="308188" cy="308188"/>
          </a:xfrm>
          <a:prstGeom prst="rect">
            <a:avLst/>
          </a:prstGeom>
          <a:solidFill>
            <a:srgbClr val="5E5E5E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6" name="Shape 236"/>
          <p:cNvSpPr/>
          <p:nvPr/>
        </p:nvSpPr>
        <p:spPr>
          <a:xfrm>
            <a:off x="7360294" y="6440321"/>
            <a:ext cx="1571962" cy="295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1500" b="0">
                <a:latin typeface="Lora Regular"/>
                <a:ea typeface="Lora Regular"/>
                <a:cs typeface="Lora Regular"/>
                <a:sym typeface="Lora Regular"/>
              </a:defRPr>
            </a:lvl1pPr>
          </a:lstStyle>
          <a:p>
            <a:r>
              <a:t>Posters</a:t>
            </a:r>
          </a:p>
        </p:txBody>
      </p:sp>
      <p:sp>
        <p:nvSpPr>
          <p:cNvPr id="237" name="Shape 237"/>
          <p:cNvSpPr/>
          <p:nvPr/>
        </p:nvSpPr>
        <p:spPr>
          <a:xfrm>
            <a:off x="7360294" y="6999121"/>
            <a:ext cx="1340396" cy="295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1500" b="0">
                <a:latin typeface="Lora Regular"/>
                <a:ea typeface="Lora Regular"/>
                <a:cs typeface="Lora Regular"/>
                <a:sym typeface="Lora Regular"/>
              </a:defRPr>
            </a:lvl1pPr>
          </a:lstStyle>
          <a:p>
            <a:r>
              <a:t>Magazine</a:t>
            </a:r>
          </a:p>
        </p:txBody>
      </p:sp>
      <p:sp>
        <p:nvSpPr>
          <p:cNvPr id="238" name="Shape 238"/>
          <p:cNvSpPr/>
          <p:nvPr/>
        </p:nvSpPr>
        <p:spPr>
          <a:xfrm>
            <a:off x="7360294" y="7564271"/>
            <a:ext cx="688171" cy="295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1500" b="0">
                <a:latin typeface="Lora Regular"/>
                <a:ea typeface="Lora Regular"/>
                <a:cs typeface="Lora Regular"/>
                <a:sym typeface="Lora Regular"/>
              </a:defRPr>
            </a:lvl1pPr>
          </a:lstStyle>
          <a:p>
            <a:r>
              <a:t>Cards</a:t>
            </a:r>
          </a:p>
        </p:txBody>
      </p:sp>
      <p:sp>
        <p:nvSpPr>
          <p:cNvPr id="239" name="Shape 239"/>
          <p:cNvSpPr/>
          <p:nvPr/>
        </p:nvSpPr>
        <p:spPr>
          <a:xfrm>
            <a:off x="7360294" y="8123071"/>
            <a:ext cx="897213" cy="295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1500" b="0">
                <a:latin typeface="Lora Regular"/>
                <a:ea typeface="Lora Regular"/>
                <a:cs typeface="Lora Regular"/>
                <a:sym typeface="Lora Regular"/>
              </a:defRPr>
            </a:lvl1pPr>
          </a:lstStyle>
          <a:p>
            <a:r>
              <a:t>Tickets</a:t>
            </a:r>
          </a:p>
        </p:txBody>
      </p:sp>
      <p:sp>
        <p:nvSpPr>
          <p:cNvPr id="240" name="Shape 240"/>
          <p:cNvSpPr/>
          <p:nvPr/>
        </p:nvSpPr>
        <p:spPr>
          <a:xfrm>
            <a:off x="8340902" y="815016"/>
            <a:ext cx="2331146" cy="233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2929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1" name="Shape 241"/>
          <p:cNvSpPr/>
          <p:nvPr/>
        </p:nvSpPr>
        <p:spPr>
          <a:xfrm>
            <a:off x="6775006" y="2845118"/>
            <a:ext cx="2893741" cy="28937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2" name="Shape 242"/>
          <p:cNvSpPr/>
          <p:nvPr/>
        </p:nvSpPr>
        <p:spPr>
          <a:xfrm rot="10800000">
            <a:off x="8353601" y="3126416"/>
            <a:ext cx="2331146" cy="233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E5E5E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3" name="Shape 243"/>
          <p:cNvSpPr/>
          <p:nvPr/>
        </p:nvSpPr>
        <p:spPr>
          <a:xfrm>
            <a:off x="9509301" y="3126416"/>
            <a:ext cx="2331146" cy="233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5D5D5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4" name="Shape 244"/>
          <p:cNvSpPr/>
          <p:nvPr/>
        </p:nvSpPr>
        <p:spPr>
          <a:xfrm>
            <a:off x="7773270" y="4596044"/>
            <a:ext cx="897213" cy="3589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>
              <a:defRPr b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74.6 %</a:t>
            </a:r>
          </a:p>
        </p:txBody>
      </p:sp>
      <p:sp>
        <p:nvSpPr>
          <p:cNvPr id="245" name="Shape 245"/>
          <p:cNvSpPr/>
          <p:nvPr/>
        </p:nvSpPr>
        <p:spPr>
          <a:xfrm>
            <a:off x="9175088" y="2208444"/>
            <a:ext cx="688172" cy="3589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>
              <a:defRPr b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28 %</a:t>
            </a:r>
          </a:p>
        </p:txBody>
      </p:sp>
      <p:sp>
        <p:nvSpPr>
          <p:cNvPr id="246" name="Shape 246"/>
          <p:cNvSpPr/>
          <p:nvPr/>
        </p:nvSpPr>
        <p:spPr>
          <a:xfrm>
            <a:off x="9175469" y="3668944"/>
            <a:ext cx="687410" cy="3589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>
              <a:defRPr b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45 %</a:t>
            </a:r>
          </a:p>
        </p:txBody>
      </p:sp>
      <p:sp>
        <p:nvSpPr>
          <p:cNvPr id="247" name="Shape 247"/>
          <p:cNvSpPr/>
          <p:nvPr/>
        </p:nvSpPr>
        <p:spPr>
          <a:xfrm>
            <a:off x="10226013" y="4596044"/>
            <a:ext cx="897722" cy="3589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>
              <a:defRPr b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33.5 %</a:t>
            </a:r>
          </a:p>
        </p:txBody>
      </p:sp>
      <p:sp>
        <p:nvSpPr>
          <p:cNvPr id="248" name="Shape 248"/>
          <p:cNvSpPr/>
          <p:nvPr/>
        </p:nvSpPr>
        <p:spPr>
          <a:xfrm>
            <a:off x="726810" y="4761165"/>
            <a:ext cx="3884127" cy="263926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 algn="just" defTabSz="325120">
              <a:lnSpc>
                <a:spcPct val="120000"/>
              </a:lnSpc>
              <a:defRPr sz="1300" b="0" spc="0" baseline="92307">
                <a:solidFill>
                  <a:srgbClr val="1D1D1A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>
              <a:lnSpc>
                <a:spcPct val="240000"/>
              </a:lnSpc>
            </a:pPr>
            <a:r>
              <a:rPr lang="en-US" sz="1800" dirty="0"/>
              <a:t>There are many variations of passages of Lorem Ipsum available, but the majority have suffered alteration in some form, by injected </a:t>
            </a:r>
            <a:r>
              <a:rPr lang="en-US" sz="1800" dirty="0" err="1"/>
              <a:t>humour</a:t>
            </a:r>
            <a:r>
              <a:rPr lang="en-US" sz="1800" dirty="0"/>
              <a:t>, or </a:t>
            </a:r>
            <a:r>
              <a:rPr lang="en-US" sz="1800" dirty="0" err="1"/>
              <a:t>randomised</a:t>
            </a:r>
            <a:r>
              <a:rPr lang="en-US" sz="1800" dirty="0"/>
              <a:t> words which don't look even slightly believable. If you are going to use a passage of Lorem Ipsum</a:t>
            </a:r>
            <a:endParaRPr sz="1800" dirty="0"/>
          </a:p>
        </p:txBody>
      </p:sp>
      <p:sp>
        <p:nvSpPr>
          <p:cNvPr id="249" name="Shape 249"/>
          <p:cNvSpPr/>
          <p:nvPr/>
        </p:nvSpPr>
        <p:spPr>
          <a:xfrm>
            <a:off x="742721" y="3452706"/>
            <a:ext cx="2548969" cy="11209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3400" b="0" spc="0">
                <a:solidFill>
                  <a:srgbClr val="2C2C2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t>Growth Overview</a:t>
            </a:r>
          </a:p>
        </p:txBody>
      </p:sp>
      <p:sp>
        <p:nvSpPr>
          <p:cNvPr id="250" name="Shape 250"/>
          <p:cNvSpPr/>
          <p:nvPr/>
        </p:nvSpPr>
        <p:spPr>
          <a:xfrm>
            <a:off x="726810" y="674449"/>
            <a:ext cx="1697568" cy="295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>
              <a:defRPr sz="1600" b="0">
                <a:solidFill>
                  <a:srgbClr val="454142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t>Project Timeline</a:t>
            </a:r>
          </a:p>
        </p:txBody>
      </p:sp>
      <p:sp>
        <p:nvSpPr>
          <p:cNvPr id="23" name="Shape 163">
            <a:extLst>
              <a:ext uri="{FF2B5EF4-FFF2-40B4-BE49-F238E27FC236}">
                <a16:creationId xmlns:a16="http://schemas.microsoft.com/office/drawing/2014/main" id="{6337FB79-3A6E-42FC-9F45-75CEDCEF4EAE}"/>
              </a:ext>
            </a:extLst>
          </p:cNvPr>
          <p:cNvSpPr/>
          <p:nvPr/>
        </p:nvSpPr>
        <p:spPr>
          <a:xfrm>
            <a:off x="495644" y="8799208"/>
            <a:ext cx="3369272" cy="30093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>
              <a:defRPr sz="1600" b="0" spc="64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IN" dirty="0"/>
              <a:t>Company Name</a:t>
            </a:r>
            <a:endParaRPr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" name="Table 253"/>
          <p:cNvGraphicFramePr/>
          <p:nvPr/>
        </p:nvGraphicFramePr>
        <p:xfrm>
          <a:off x="-223201" y="2688070"/>
          <a:ext cx="13527400" cy="3506877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67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959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Short-term Goals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38100">
                      <a:solidFill>
                        <a:srgbClr val="FFFFFF"/>
                      </a:solidFill>
                      <a:miter lim="400000"/>
                    </a:lnR>
                    <a:lnT w="0">
                      <a:miter lim="400000"/>
                    </a:lnT>
                    <a:lnB w="38100">
                      <a:solidFill>
                        <a:srgbClr val="FFFFFF"/>
                      </a:solidFill>
                      <a:miter lim="400000"/>
                    </a:lnB>
                    <a:solidFill>
                      <a:srgbClr val="4541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Milestones</a:t>
                      </a:r>
                    </a:p>
                  </a:txBody>
                  <a:tcPr marL="50800" marR="50800" marT="50800" marB="50800" anchor="ctr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38100">
                      <a:solidFill>
                        <a:srgbClr val="FFFFFF"/>
                      </a:solidFill>
                      <a:miter lim="400000"/>
                    </a:lnB>
                    <a:solidFill>
                      <a:srgbClr val="4541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95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Social media brand marketing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38100">
                      <a:solidFill>
                        <a:srgbClr val="FFFFFF"/>
                      </a:solidFill>
                      <a:miter lim="400000"/>
                    </a:lnR>
                    <a:lnT w="38100">
                      <a:solidFill>
                        <a:srgbClr val="FFFFFF"/>
                      </a:solidFill>
                      <a:miter lim="400000"/>
                    </a:lnT>
                    <a:lnB w="38100">
                      <a:solidFill>
                        <a:srgbClr val="FFFFFF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Reached 50% of audience target.</a:t>
                      </a:r>
                    </a:p>
                  </a:txBody>
                  <a:tcPr marL="50800" marR="50800" marT="50800" marB="50800" anchor="ctr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R w="0">
                      <a:miter lim="400000"/>
                    </a:lnR>
                    <a:lnT w="38100">
                      <a:solidFill>
                        <a:srgbClr val="FFFFFF"/>
                      </a:solidFill>
                      <a:miter lim="400000"/>
                    </a:lnT>
                    <a:lnB w="38100">
                      <a:solidFill>
                        <a:srgbClr val="FFFFFF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895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Company Building Expansion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38100">
                      <a:solidFill>
                        <a:srgbClr val="FFFFFF"/>
                      </a:solidFill>
                      <a:miter lim="400000"/>
                    </a:lnR>
                    <a:lnT w="38100">
                      <a:solidFill>
                        <a:srgbClr val="FFFFFF"/>
                      </a:solidFill>
                      <a:miter lim="400000"/>
                    </a:lnT>
                    <a:lnB w="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Film Making started 2024</a:t>
                      </a:r>
                    </a:p>
                  </a:txBody>
                  <a:tcPr marL="50800" marR="50800" marT="50800" marB="50800" anchor="ctr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R w="0">
                      <a:miter lim="400000"/>
                    </a:lnR>
                    <a:lnT w="38100">
                      <a:solidFill>
                        <a:srgbClr val="FFFFFF"/>
                      </a:solidFill>
                      <a:miter lim="400000"/>
                    </a:lnT>
                    <a:lnB w="0"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4" name="Table 254"/>
          <p:cNvGraphicFramePr/>
          <p:nvPr/>
        </p:nvGraphicFramePr>
        <p:xfrm>
          <a:off x="-240134" y="5504500"/>
          <a:ext cx="13561266" cy="3506877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67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0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959"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Long-term Goals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38100">
                      <a:solidFill>
                        <a:srgbClr val="FFFFFF"/>
                      </a:solidFill>
                      <a:miter lim="400000"/>
                    </a:lnR>
                    <a:lnT w="0">
                      <a:miter lim="400000"/>
                    </a:lnT>
                    <a:lnB w="38100">
                      <a:solidFill>
                        <a:srgbClr val="FFFFFF"/>
                      </a:solidFill>
                      <a:miter lim="400000"/>
                    </a:lnB>
                    <a:solidFill>
                      <a:srgbClr val="4541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Milestones</a:t>
                      </a:r>
                    </a:p>
                  </a:txBody>
                  <a:tcPr marL="50800" marR="50800" marT="50800" marB="50800" anchor="ctr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38100">
                      <a:solidFill>
                        <a:srgbClr val="FFFFFF"/>
                      </a:solidFill>
                      <a:miter lim="400000"/>
                    </a:lnB>
                    <a:solidFill>
                      <a:srgbClr val="4541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95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Partnership with Axon Films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38100">
                      <a:solidFill>
                        <a:srgbClr val="FFFFFF"/>
                      </a:solidFill>
                      <a:miter lim="400000"/>
                    </a:lnR>
                    <a:lnT w="38100">
                      <a:solidFill>
                        <a:srgbClr val="FFFFFF"/>
                      </a:solidFill>
                      <a:miter lim="400000"/>
                    </a:lnT>
                    <a:lnB w="38100">
                      <a:solidFill>
                        <a:srgbClr val="FFFFFF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Contract signing on February 2027</a:t>
                      </a:r>
                    </a:p>
                  </a:txBody>
                  <a:tcPr marL="50800" marR="50800" marT="50800" marB="50800" anchor="ctr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R w="0">
                      <a:miter lim="400000"/>
                    </a:lnR>
                    <a:lnT w="38100">
                      <a:solidFill>
                        <a:srgbClr val="FFFFFF"/>
                      </a:solidFill>
                      <a:miter lim="400000"/>
                    </a:lnT>
                    <a:lnB w="38100">
                      <a:solidFill>
                        <a:srgbClr val="FFFFFF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895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Brand expansion in New York &amp; New Jersey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38100">
                      <a:solidFill>
                        <a:srgbClr val="FFFFFF"/>
                      </a:solidFill>
                      <a:miter lim="400000"/>
                    </a:lnR>
                    <a:lnT w="38100">
                      <a:solidFill>
                        <a:srgbClr val="FFFFFF"/>
                      </a:solidFill>
                      <a:miter lim="400000"/>
                    </a:lnT>
                    <a:lnB w="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Budget proposal drafted as of July 2026</a:t>
                      </a:r>
                    </a:p>
                  </a:txBody>
                  <a:tcPr marL="50800" marR="50800" marT="50800" marB="50800" anchor="ctr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R w="0">
                      <a:miter lim="400000"/>
                    </a:lnR>
                    <a:lnT w="38100">
                      <a:solidFill>
                        <a:srgbClr val="FFFFFF"/>
                      </a:solidFill>
                      <a:miter lim="400000"/>
                    </a:lnT>
                    <a:lnB w="0"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5" name="Shape 255"/>
          <p:cNvSpPr/>
          <p:nvPr/>
        </p:nvSpPr>
        <p:spPr>
          <a:xfrm>
            <a:off x="3667692" y="941612"/>
            <a:ext cx="5745613" cy="6764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 algn="l">
              <a:defRPr sz="4000" b="0" spc="0">
                <a:solidFill>
                  <a:srgbClr val="2C2C2C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dirty="0"/>
              <a:t>Company Milestones</a:t>
            </a:r>
          </a:p>
        </p:txBody>
      </p:sp>
      <p:sp>
        <p:nvSpPr>
          <p:cNvPr id="256" name="Shape 256"/>
          <p:cNvSpPr/>
          <p:nvPr/>
        </p:nvSpPr>
        <p:spPr>
          <a:xfrm>
            <a:off x="3017191" y="1861643"/>
            <a:ext cx="6995813" cy="2589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 algn="l" defTabSz="325120">
              <a:lnSpc>
                <a:spcPct val="120000"/>
              </a:lnSpc>
              <a:defRPr sz="1400" b="0" spc="0" baseline="28571">
                <a:solidFill>
                  <a:srgbClr val="2C2C2C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 algn="ctr"/>
            <a:r>
              <a:rPr sz="1800" spc="140" baseline="29000" dirty="0"/>
              <a:t>The team in this department also manages client concerns &amp; collaborates.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photo-1506512420485-a28339abb3b9-filtered.jpeg"/>
          <p:cNvPicPr>
            <a:picLocks noChangeAspect="1"/>
          </p:cNvPicPr>
          <p:nvPr/>
        </p:nvPicPr>
        <p:blipFill>
          <a:blip r:embed="rId2"/>
          <a:srcRect l="5292" r="3307"/>
          <a:stretch>
            <a:fillRect/>
          </a:stretch>
        </p:blipFill>
        <p:spPr>
          <a:xfrm>
            <a:off x="-190096" y="-4692"/>
            <a:ext cx="13384992" cy="9762984"/>
          </a:xfrm>
          <a:prstGeom prst="rect">
            <a:avLst/>
          </a:prstGeom>
          <a:ln w="3175">
            <a:miter lim="400000"/>
          </a:ln>
        </p:spPr>
      </p:pic>
      <p:sp>
        <p:nvSpPr>
          <p:cNvPr id="259" name="Shape 259"/>
          <p:cNvSpPr/>
          <p:nvPr/>
        </p:nvSpPr>
        <p:spPr>
          <a:xfrm>
            <a:off x="-63096" y="2864230"/>
            <a:ext cx="13130992" cy="4025140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0" name="Shape 260"/>
          <p:cNvSpPr/>
          <p:nvPr/>
        </p:nvSpPr>
        <p:spPr>
          <a:xfrm>
            <a:off x="2289753" y="4673257"/>
            <a:ext cx="8425294" cy="131153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defTabSz="457200">
              <a:lnSpc>
                <a:spcPct val="120000"/>
              </a:lnSpc>
              <a:defRPr sz="1300" b="0" baseline="92307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>
              <a:lnSpc>
                <a:spcPct val="240000"/>
              </a:lnSpc>
            </a:pPr>
            <a:r>
              <a:rPr lang="en-US" sz="1800" spc="60" baseline="92000" dirty="0"/>
              <a:t>There are many variations of passages of Lorem Ipsum available, but the majority have suffered alteration in some form, by injected </a:t>
            </a:r>
            <a:r>
              <a:rPr lang="en-US" sz="1800" spc="60" baseline="92000" dirty="0" err="1"/>
              <a:t>humour</a:t>
            </a:r>
            <a:r>
              <a:rPr lang="en-US" sz="1800" spc="60" baseline="92000" dirty="0"/>
              <a:t>, or </a:t>
            </a:r>
            <a:r>
              <a:rPr lang="en-US" sz="1800" spc="60" baseline="92000" dirty="0" err="1"/>
              <a:t>randomised</a:t>
            </a:r>
            <a:r>
              <a:rPr lang="en-US" sz="1800" spc="60" baseline="92000" dirty="0"/>
              <a:t> words which don't look even slightly believable. If you are going to use a passage of Lorem Ipsum</a:t>
            </a:r>
            <a:endParaRPr sz="1800" spc="60" baseline="92000" dirty="0"/>
          </a:p>
        </p:txBody>
      </p:sp>
      <p:sp>
        <p:nvSpPr>
          <p:cNvPr id="261" name="Shape 261"/>
          <p:cNvSpPr/>
          <p:nvPr/>
        </p:nvSpPr>
        <p:spPr>
          <a:xfrm>
            <a:off x="5101785" y="3521714"/>
            <a:ext cx="2801230" cy="6764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 algn="l">
              <a:defRPr sz="4000" b="0" spc="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dirty="0"/>
              <a:t>Outlook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pasted-image.pdf"/>
          <p:cNvPicPr>
            <a:picLocks noChangeAspect="1"/>
          </p:cNvPicPr>
          <p:nvPr/>
        </p:nvPicPr>
        <p:blipFill>
          <a:blip r:embed="rId2">
            <a:alphaModFix amt="19454"/>
          </a:blip>
          <a:stretch>
            <a:fillRect/>
          </a:stretch>
        </p:blipFill>
        <p:spPr>
          <a:xfrm>
            <a:off x="2125873" y="2675418"/>
            <a:ext cx="9379614" cy="5520364"/>
          </a:xfrm>
          <a:prstGeom prst="rect">
            <a:avLst/>
          </a:prstGeom>
          <a:ln w="3175">
            <a:miter lim="400000"/>
          </a:ln>
        </p:spPr>
      </p:pic>
      <p:sp>
        <p:nvSpPr>
          <p:cNvPr id="264" name="Shape 264"/>
          <p:cNvSpPr/>
          <p:nvPr/>
        </p:nvSpPr>
        <p:spPr>
          <a:xfrm>
            <a:off x="646886" y="1471064"/>
            <a:ext cx="2740639" cy="12987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/>
          <a:p>
            <a:pPr algn="l">
              <a:defRPr sz="4000" b="0" spc="0">
                <a:solidFill>
                  <a:srgbClr val="45414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Screening</a:t>
            </a:r>
          </a:p>
          <a:p>
            <a:pPr algn="l">
              <a:defRPr sz="4000" b="0" spc="0">
                <a:solidFill>
                  <a:srgbClr val="45414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Areas</a:t>
            </a:r>
          </a:p>
        </p:txBody>
      </p:sp>
      <p:sp>
        <p:nvSpPr>
          <p:cNvPr id="265" name="Shape 265"/>
          <p:cNvSpPr/>
          <p:nvPr/>
        </p:nvSpPr>
        <p:spPr>
          <a:xfrm>
            <a:off x="3132602" y="4218093"/>
            <a:ext cx="196594" cy="196593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6" name="Shape 266"/>
          <p:cNvSpPr/>
          <p:nvPr/>
        </p:nvSpPr>
        <p:spPr>
          <a:xfrm>
            <a:off x="3439096" y="4771813"/>
            <a:ext cx="196593" cy="196593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7" name="Shape 267"/>
          <p:cNvSpPr/>
          <p:nvPr/>
        </p:nvSpPr>
        <p:spPr>
          <a:xfrm>
            <a:off x="4189243" y="5645573"/>
            <a:ext cx="196593" cy="196593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8" name="Shape 268"/>
          <p:cNvSpPr/>
          <p:nvPr/>
        </p:nvSpPr>
        <p:spPr>
          <a:xfrm>
            <a:off x="6612402" y="4416213"/>
            <a:ext cx="196593" cy="196593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9" name="Shape 269"/>
          <p:cNvSpPr/>
          <p:nvPr/>
        </p:nvSpPr>
        <p:spPr>
          <a:xfrm>
            <a:off x="6536202" y="4926753"/>
            <a:ext cx="196593" cy="196593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0" name="Shape 270"/>
          <p:cNvSpPr/>
          <p:nvPr/>
        </p:nvSpPr>
        <p:spPr>
          <a:xfrm>
            <a:off x="9955042" y="5147733"/>
            <a:ext cx="196593" cy="196593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1" name="Shape 271"/>
          <p:cNvSpPr/>
          <p:nvPr/>
        </p:nvSpPr>
        <p:spPr>
          <a:xfrm>
            <a:off x="9955042" y="5757333"/>
            <a:ext cx="196593" cy="196593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2" name="Shape 272"/>
          <p:cNvSpPr/>
          <p:nvPr/>
        </p:nvSpPr>
        <p:spPr>
          <a:xfrm>
            <a:off x="1525529" y="4371729"/>
            <a:ext cx="1224039" cy="35018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just" defTabSz="457200">
              <a:lnSpc>
                <a:spcPct val="120000"/>
              </a:lnSpc>
              <a:defRPr sz="1700" b="0" baseline="70588">
                <a:solidFill>
                  <a:srgbClr val="45414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rPr sz="2400" dirty="0"/>
              <a:t>Canada</a:t>
            </a:r>
          </a:p>
        </p:txBody>
      </p:sp>
      <p:sp>
        <p:nvSpPr>
          <p:cNvPr id="273" name="Shape 273"/>
          <p:cNvSpPr/>
          <p:nvPr/>
        </p:nvSpPr>
        <p:spPr>
          <a:xfrm>
            <a:off x="2289513" y="4933779"/>
            <a:ext cx="1323391" cy="35018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just" defTabSz="457200">
              <a:lnSpc>
                <a:spcPct val="120000"/>
              </a:lnSpc>
              <a:defRPr sz="1700" b="0" baseline="70588">
                <a:solidFill>
                  <a:srgbClr val="45414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rPr sz="2400"/>
              <a:t>USA</a:t>
            </a:r>
          </a:p>
        </p:txBody>
      </p:sp>
      <p:sp>
        <p:nvSpPr>
          <p:cNvPr id="274" name="Shape 274"/>
          <p:cNvSpPr/>
          <p:nvPr/>
        </p:nvSpPr>
        <p:spPr>
          <a:xfrm>
            <a:off x="2338316" y="5782139"/>
            <a:ext cx="1452388" cy="35018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just" defTabSz="457200">
              <a:lnSpc>
                <a:spcPct val="120000"/>
              </a:lnSpc>
              <a:defRPr sz="1700" b="0" baseline="70588">
                <a:solidFill>
                  <a:srgbClr val="45414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rPr sz="2400" dirty="0"/>
              <a:t>Mexico</a:t>
            </a:r>
          </a:p>
        </p:txBody>
      </p:sp>
      <p:sp>
        <p:nvSpPr>
          <p:cNvPr id="275" name="Shape 275"/>
          <p:cNvSpPr/>
          <p:nvPr/>
        </p:nvSpPr>
        <p:spPr>
          <a:xfrm>
            <a:off x="7213846" y="4566243"/>
            <a:ext cx="2032086" cy="35018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just" defTabSz="457200">
              <a:lnSpc>
                <a:spcPct val="120000"/>
              </a:lnSpc>
              <a:defRPr sz="1700" b="0" baseline="70588">
                <a:solidFill>
                  <a:srgbClr val="45414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rPr sz="2400" dirty="0"/>
              <a:t>United Kingdom</a:t>
            </a:r>
          </a:p>
        </p:txBody>
      </p:sp>
      <p:sp>
        <p:nvSpPr>
          <p:cNvPr id="276" name="Shape 276"/>
          <p:cNvSpPr/>
          <p:nvPr/>
        </p:nvSpPr>
        <p:spPr>
          <a:xfrm>
            <a:off x="6975086" y="5099643"/>
            <a:ext cx="1452388" cy="35018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just" defTabSz="457200">
              <a:lnSpc>
                <a:spcPct val="120000"/>
              </a:lnSpc>
              <a:defRPr sz="1700" b="0" baseline="70588">
                <a:solidFill>
                  <a:srgbClr val="45414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rPr sz="2400"/>
              <a:t>Spain</a:t>
            </a:r>
          </a:p>
        </p:txBody>
      </p:sp>
      <p:sp>
        <p:nvSpPr>
          <p:cNvPr id="277" name="Shape 277"/>
          <p:cNvSpPr/>
          <p:nvPr/>
        </p:nvSpPr>
        <p:spPr>
          <a:xfrm>
            <a:off x="10612366" y="5315543"/>
            <a:ext cx="1452388" cy="35018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just" defTabSz="457200">
              <a:lnSpc>
                <a:spcPct val="120000"/>
              </a:lnSpc>
              <a:defRPr sz="1700" b="0" baseline="70588">
                <a:solidFill>
                  <a:srgbClr val="45414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rPr sz="2400" dirty="0"/>
              <a:t>South Korea</a:t>
            </a:r>
          </a:p>
        </p:txBody>
      </p:sp>
      <p:sp>
        <p:nvSpPr>
          <p:cNvPr id="278" name="Shape 278"/>
          <p:cNvSpPr/>
          <p:nvPr/>
        </p:nvSpPr>
        <p:spPr>
          <a:xfrm>
            <a:off x="10490446" y="5922602"/>
            <a:ext cx="1452388" cy="35018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just" defTabSz="457200">
              <a:lnSpc>
                <a:spcPct val="120000"/>
              </a:lnSpc>
              <a:defRPr sz="1700" b="0" baseline="70588">
                <a:solidFill>
                  <a:srgbClr val="45414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</a:lstStyle>
          <a:p>
            <a:r>
              <a:rPr sz="2400"/>
              <a:t>Philippines</a:t>
            </a:r>
          </a:p>
        </p:txBody>
      </p:sp>
      <p:sp>
        <p:nvSpPr>
          <p:cNvPr id="279" name="Shape 279"/>
          <p:cNvSpPr/>
          <p:nvPr/>
        </p:nvSpPr>
        <p:spPr>
          <a:xfrm>
            <a:off x="726810" y="674449"/>
            <a:ext cx="1697568" cy="295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>
              <a:defRPr sz="1600" b="0">
                <a:solidFill>
                  <a:srgbClr val="454142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t>Project Timeline</a:t>
            </a:r>
          </a:p>
        </p:txBody>
      </p:sp>
      <p:sp>
        <p:nvSpPr>
          <p:cNvPr id="20" name="Shape 163">
            <a:extLst>
              <a:ext uri="{FF2B5EF4-FFF2-40B4-BE49-F238E27FC236}">
                <a16:creationId xmlns:a16="http://schemas.microsoft.com/office/drawing/2014/main" id="{1A3BA2BF-48FC-4320-B494-6DF2EA25125A}"/>
              </a:ext>
            </a:extLst>
          </p:cNvPr>
          <p:cNvSpPr/>
          <p:nvPr/>
        </p:nvSpPr>
        <p:spPr>
          <a:xfrm>
            <a:off x="495644" y="8799208"/>
            <a:ext cx="3369272" cy="30093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>
              <a:defRPr sz="1600" b="0" spc="64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IN" dirty="0"/>
              <a:t>Company Name</a:t>
            </a:r>
            <a:endParaRPr dirty="0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/>
          <p:nvPr/>
        </p:nvSpPr>
        <p:spPr>
          <a:xfrm>
            <a:off x="8558689" y="6295095"/>
            <a:ext cx="2913139" cy="4251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 defTabSz="325120">
              <a:lnSpc>
                <a:spcPct val="120000"/>
              </a:lnSpc>
              <a:defRPr sz="1400" b="0" spc="0" baseline="28571"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 algn="r">
              <a:lnSpc>
                <a:spcPct val="229000"/>
              </a:lnSpc>
            </a:pPr>
            <a:r>
              <a:rPr sz="1800" spc="140" baseline="29000" dirty="0"/>
              <a:t>- ; J. </a:t>
            </a:r>
            <a:r>
              <a:rPr sz="1800" spc="140" baseline="29000" dirty="0" err="1"/>
              <a:t>Wyans</a:t>
            </a:r>
            <a:r>
              <a:rPr sz="1800" spc="140" baseline="29000" dirty="0"/>
              <a:t>, 32, Engineer</a:t>
            </a:r>
          </a:p>
        </p:txBody>
      </p:sp>
      <p:sp>
        <p:nvSpPr>
          <p:cNvPr id="289" name="Shape 289"/>
          <p:cNvSpPr/>
          <p:nvPr/>
        </p:nvSpPr>
        <p:spPr>
          <a:xfrm>
            <a:off x="6442671" y="4165451"/>
            <a:ext cx="5546477" cy="167669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just" defTabSz="325120">
              <a:lnSpc>
                <a:spcPct val="120000"/>
              </a:lnSpc>
              <a:defRPr sz="1300" b="0" i="1" spc="0" baseline="92307"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>
              <a:lnSpc>
                <a:spcPct val="229000"/>
              </a:lnSpc>
            </a:pPr>
            <a:r>
              <a:rPr sz="1800" spc="60" dirty="0"/>
              <a:t>“</a:t>
            </a:r>
            <a:r>
              <a:rPr lang="en-US" sz="1800" spc="60" dirty="0"/>
              <a:t>There are many variations of passages of Lorem Ipsum available, but the majority have suffered alteration in some form, by injected </a:t>
            </a:r>
            <a:r>
              <a:rPr lang="en-US" sz="1800" spc="60" dirty="0" err="1"/>
              <a:t>humour</a:t>
            </a:r>
            <a:r>
              <a:rPr lang="en-US" sz="1800" spc="60" dirty="0"/>
              <a:t>, or </a:t>
            </a:r>
            <a:r>
              <a:rPr lang="en-US" sz="1800" spc="60" dirty="0" err="1"/>
              <a:t>randomised</a:t>
            </a:r>
            <a:r>
              <a:rPr lang="en-US" sz="1800" spc="60" dirty="0"/>
              <a:t> words which don't look even slightly believable. If you are going to use a passage of Lorem Ipsum</a:t>
            </a:r>
            <a:r>
              <a:rPr sz="1800" spc="60" dirty="0"/>
              <a:t>.”</a:t>
            </a:r>
          </a:p>
        </p:txBody>
      </p:sp>
      <p:sp>
        <p:nvSpPr>
          <p:cNvPr id="292" name="Shape 292"/>
          <p:cNvSpPr/>
          <p:nvPr/>
        </p:nvSpPr>
        <p:spPr>
          <a:xfrm>
            <a:off x="707337" y="575185"/>
            <a:ext cx="4149674" cy="676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4000" b="0" spc="400">
                <a:solidFill>
                  <a:srgbClr val="45414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Testimonials</a:t>
            </a:r>
          </a:p>
        </p:txBody>
      </p:sp>
      <p:sp>
        <p:nvSpPr>
          <p:cNvPr id="7" name="Shape 163">
            <a:extLst>
              <a:ext uri="{FF2B5EF4-FFF2-40B4-BE49-F238E27FC236}">
                <a16:creationId xmlns:a16="http://schemas.microsoft.com/office/drawing/2014/main" id="{7ACB9D82-11E6-4E1E-B031-E55CC99F95F7}"/>
              </a:ext>
            </a:extLst>
          </p:cNvPr>
          <p:cNvSpPr/>
          <p:nvPr/>
        </p:nvSpPr>
        <p:spPr>
          <a:xfrm>
            <a:off x="495644" y="8799208"/>
            <a:ext cx="3369272" cy="30093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>
              <a:defRPr sz="1600" b="0" spc="640">
                <a:solidFill>
                  <a:srgbClr val="36354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IN" dirty="0"/>
              <a:t>Company Name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FE837-FCFF-4411-AF2E-F6788DBC0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86" y="2667524"/>
            <a:ext cx="3738775" cy="441855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photo-1520872542484-e35da5446294.jpeg"/>
          <p:cNvPicPr>
            <a:picLocks noChangeAspect="1"/>
          </p:cNvPicPr>
          <p:nvPr/>
        </p:nvPicPr>
        <p:blipFill>
          <a:blip r:embed="rId2"/>
          <a:srcRect l="21926" t="33980" r="21926" b="43103"/>
          <a:stretch>
            <a:fillRect/>
          </a:stretch>
        </p:blipFill>
        <p:spPr>
          <a:xfrm>
            <a:off x="-50800" y="-1023839"/>
            <a:ext cx="13106400" cy="3375125"/>
          </a:xfrm>
          <a:prstGeom prst="rect">
            <a:avLst/>
          </a:prstGeom>
          <a:ln w="3175">
            <a:miter lim="400000"/>
          </a:ln>
        </p:spPr>
      </p:pic>
      <p:sp>
        <p:nvSpPr>
          <p:cNvPr id="295" name="Shape 295"/>
          <p:cNvSpPr/>
          <p:nvPr/>
        </p:nvSpPr>
        <p:spPr>
          <a:xfrm>
            <a:off x="773862" y="5066907"/>
            <a:ext cx="4751476" cy="131148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>
            <a:lvl1pPr algn="l">
              <a:defRPr sz="7000" b="0">
                <a:solidFill>
                  <a:srgbClr val="45414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r>
              <a:t>Thank you</a:t>
            </a:r>
          </a:p>
        </p:txBody>
      </p:sp>
      <p:sp>
        <p:nvSpPr>
          <p:cNvPr id="296" name="Shape 296"/>
          <p:cNvSpPr/>
          <p:nvPr/>
        </p:nvSpPr>
        <p:spPr>
          <a:xfrm>
            <a:off x="897803" y="7104968"/>
            <a:ext cx="2251797" cy="146670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/>
          <a:p>
            <a:pPr algn="l" defTabSz="457200">
              <a:lnSpc>
                <a:spcPct val="220000"/>
              </a:lnSpc>
              <a:defRPr sz="1600" b="0" baseline="75000"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sz="2200" spc="120" baseline="75000" dirty="0"/>
              <a:t>216-355-3016</a:t>
            </a:r>
          </a:p>
          <a:p>
            <a:pPr algn="l" defTabSz="457200">
              <a:lnSpc>
                <a:spcPct val="220000"/>
              </a:lnSpc>
              <a:defRPr sz="1600" b="0" baseline="75000"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sz="2200" spc="80" baseline="75000" dirty="0"/>
              <a:t>1981  Little St., Homer, OH, 44235, USA</a:t>
            </a:r>
          </a:p>
        </p:txBody>
      </p:sp>
      <p:sp>
        <p:nvSpPr>
          <p:cNvPr id="297" name="Shape 297"/>
          <p:cNvSpPr/>
          <p:nvPr/>
        </p:nvSpPr>
        <p:spPr>
          <a:xfrm>
            <a:off x="736600" y="-566639"/>
            <a:ext cx="5739868" cy="4355506"/>
          </a:xfrm>
          <a:prstGeom prst="rect">
            <a:avLst/>
          </a:prstGeom>
          <a:solidFill>
            <a:srgbClr val="454142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58702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>
        <a:spAutoFit/>
      </a:bodyPr>
      <a:lstStyle>
        <a:defPPr marL="0" marR="0" indent="0" algn="ctr" defTabSz="58702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58702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>
        <a:spAutoFit/>
      </a:bodyPr>
      <a:lstStyle>
        <a:defPPr marL="0" marR="0" indent="0" algn="ctr" defTabSz="58702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706</Words>
  <Application>Microsoft Office PowerPoint</Application>
  <PresentationFormat>Custom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Helvetica Neue</vt:lpstr>
      <vt:lpstr>Helvetica Neue Light</vt:lpstr>
      <vt:lpstr>Helvetica Neue Medium</vt:lpstr>
      <vt:lpstr>Lora Regular</vt:lpstr>
      <vt:lpstr>Montserrat Light</vt:lpstr>
      <vt:lpstr>Montserrat Medium</vt:lpstr>
      <vt:lpstr>Montserrat Regular</vt:lpstr>
      <vt:lpstr>Montserrat SemiBold</vt:lpstr>
      <vt:lpstr>Poppins SemiBold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SBB</dc:creator>
  <cp:lastModifiedBy>MahendiAli Kadiwala</cp:lastModifiedBy>
  <cp:revision>20</cp:revision>
  <dcterms:modified xsi:type="dcterms:W3CDTF">2020-01-20T14:43:06Z</dcterms:modified>
</cp:coreProperties>
</file>