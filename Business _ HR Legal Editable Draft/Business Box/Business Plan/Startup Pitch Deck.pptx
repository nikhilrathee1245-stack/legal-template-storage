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74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9AF8C"/>
    <a:srgbClr val="148971"/>
    <a:srgbClr val="FBFBFB"/>
    <a:srgbClr val="FCFEFD"/>
    <a:srgbClr val="F5FDFB"/>
    <a:srgbClr val="50D5BA"/>
    <a:srgbClr val="A69A57"/>
    <a:srgbClr val="F9F9F9"/>
    <a:srgbClr val="6B7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8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Traction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E07C-4F65-960A-157E529B43C2}"/>
              </c:ext>
            </c:extLst>
          </c:dPt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1-E07C-4F65-960A-157E529B43C2}"/>
              </c:ext>
            </c:extLst>
          </c:dPt>
          <c:dPt>
            <c:idx val="2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E07C-4F65-960A-157E529B43C2}"/>
              </c:ext>
            </c:extLst>
          </c:dPt>
          <c:dPt>
            <c:idx val="3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E07C-4F65-960A-157E529B43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lato Bold" panose="020F0502020204030203" pitchFamily="34" charset="0"/>
                    <a:ea typeface="lato Bold" panose="020F0502020204030203" pitchFamily="34" charset="0"/>
                    <a:cs typeface="lato Bold" panose="020F0502020204030203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Starting </c:v>
                </c:pt>
                <c:pt idx="1">
                  <c:v>2017</c:v>
                </c:pt>
                <c:pt idx="2">
                  <c:v>2019</c:v>
                </c:pt>
                <c:pt idx="3">
                  <c:v>2021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 formatCode="General">
                  <c:v>0</c:v>
                </c:pt>
                <c:pt idx="1">
                  <c:v>0.49</c:v>
                </c:pt>
                <c:pt idx="2">
                  <c:v>0.4</c:v>
                </c:pt>
                <c:pt idx="3">
                  <c:v>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07C-4F65-960A-157E529B43C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232164608"/>
        <c:axId val="189897784"/>
      </c:lineChart>
      <c:catAx>
        <c:axId val="23216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97784"/>
        <c:crosses val="autoZero"/>
        <c:auto val="1"/>
        <c:lblAlgn val="ctr"/>
        <c:lblOffset val="100"/>
        <c:noMultiLvlLbl val="0"/>
      </c:catAx>
      <c:valAx>
        <c:axId val="189897784"/>
        <c:scaling>
          <c:orientation val="minMax"/>
          <c:max val="1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2164608"/>
        <c:crosses val="autoZero"/>
        <c:crossBetween val="between"/>
        <c:majorUnit val="0.2"/>
        <c:minorUnit val="0.1"/>
      </c:valAx>
      <c:spPr>
        <a:solidFill>
          <a:srgbClr val="FBFBFB"/>
        </a:solidFill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52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728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02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97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22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28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17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55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365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68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966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81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D801B-DBF7-4866-AE8E-6730E8FB2EAB}" type="datetimeFigureOut">
              <a:rPr lang="en-GB" smtClean="0"/>
              <a:t>21/01/2020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7B171-715A-42F2-BF29-65809C1381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1489830" y="2041899"/>
            <a:ext cx="6164341" cy="2121056"/>
            <a:chOff x="2086559" y="1628598"/>
            <a:chExt cx="6164341" cy="2121056"/>
          </a:xfrm>
        </p:grpSpPr>
        <p:sp>
          <p:nvSpPr>
            <p:cNvPr id="7" name="Rectangle 6"/>
            <p:cNvSpPr/>
            <p:nvPr/>
          </p:nvSpPr>
          <p:spPr>
            <a:xfrm>
              <a:off x="4039438" y="3208480"/>
              <a:ext cx="2258583" cy="5411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000" dirty="0">
                  <a:solidFill>
                    <a:srgbClr val="29AF8C"/>
                  </a:solidFill>
                  <a:latin typeface="Lato Semibold" panose="020F0502020204030203" pitchFamily="34" charset="0"/>
                  <a:ea typeface="Lato Semibold" panose="020F0502020204030203" pitchFamily="34" charset="0"/>
                  <a:cs typeface="Lato Semibold" panose="020F0502020204030203" pitchFamily="34" charset="0"/>
                </a:rPr>
                <a:t>Pitch Deck</a:t>
              </a:r>
              <a:endParaRPr lang="en-GB" sz="3000" dirty="0">
                <a:solidFill>
                  <a:srgbClr val="29AF8C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086559" y="1628598"/>
              <a:ext cx="6164341" cy="1862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500" dirty="0">
                  <a:solidFill>
                    <a:schemeClr val="bg1"/>
                  </a:solidFill>
                  <a:latin typeface="Lato Black" panose="020F0502020204030203" pitchFamily="34" charset="0"/>
                  <a:ea typeface="Lato Black" panose="020F0502020204030203" pitchFamily="34" charset="0"/>
                  <a:cs typeface="Lato Black" panose="020F0502020204030203" pitchFamily="34" charset="0"/>
                </a:rPr>
                <a:t>Startup</a:t>
              </a:r>
              <a:endParaRPr lang="en-US" sz="6600" dirty="0">
                <a:solidFill>
                  <a:schemeClr val="bg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endParaRPr>
            </a:p>
          </p:txBody>
        </p:sp>
      </p:grpSp>
      <p:sp>
        <p:nvSpPr>
          <p:cNvPr id="9" name="Plus 8"/>
          <p:cNvSpPr/>
          <p:nvPr/>
        </p:nvSpPr>
        <p:spPr>
          <a:xfrm>
            <a:off x="6812838" y="2547225"/>
            <a:ext cx="231349" cy="231349"/>
          </a:xfrm>
          <a:prstGeom prst="mathPlus">
            <a:avLst>
              <a:gd name="adj1" fmla="val 7144"/>
            </a:avLst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/>
          <p:cNvCxnSpPr/>
          <p:nvPr/>
        </p:nvCxnSpPr>
        <p:spPr>
          <a:xfrm>
            <a:off x="3766458" y="2225246"/>
            <a:ext cx="1611085" cy="0"/>
          </a:xfrm>
          <a:prstGeom prst="line">
            <a:avLst/>
          </a:prstGeom>
          <a:ln w="12700">
            <a:solidFill>
              <a:srgbClr val="29AF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08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83806" y="1489208"/>
            <a:ext cx="4597451" cy="147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83806" y="1076649"/>
            <a:ext cx="163355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i="0" u="none" strike="noStrike" dirty="0">
                <a:solidFill>
                  <a:srgbClr val="29AF8C"/>
                </a:solidFill>
                <a:effectLst/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About Us</a:t>
            </a:r>
            <a:endParaRPr lang="en-GB" sz="2300" dirty="0">
              <a:solidFill>
                <a:srgbClr val="29AF8C"/>
              </a:solidFill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</p:txBody>
      </p:sp>
      <p:sp>
        <p:nvSpPr>
          <p:cNvPr id="10" name="Plus 9"/>
          <p:cNvSpPr/>
          <p:nvPr/>
        </p:nvSpPr>
        <p:spPr>
          <a:xfrm>
            <a:off x="1973212" y="1489208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/>
          <p:cNvCxnSpPr/>
          <p:nvPr/>
        </p:nvCxnSpPr>
        <p:spPr>
          <a:xfrm>
            <a:off x="3366601" y="902481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592155" y="3498477"/>
            <a:ext cx="8551845" cy="4479555"/>
            <a:chOff x="592155" y="3498477"/>
            <a:chExt cx="8551845" cy="4479555"/>
          </a:xfrm>
        </p:grpSpPr>
        <p:sp>
          <p:nvSpPr>
            <p:cNvPr id="2" name="Isosceles Triangle 1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6294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36461" y="2025227"/>
            <a:ext cx="4318509" cy="1755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3603" y="1615642"/>
            <a:ext cx="1743439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Vision</a:t>
            </a:r>
          </a:p>
        </p:txBody>
      </p:sp>
      <p:grpSp>
        <p:nvGrpSpPr>
          <p:cNvPr id="4" name="Group 3"/>
          <p:cNvGrpSpPr/>
          <p:nvPr/>
        </p:nvGrpSpPr>
        <p:grpSpPr>
          <a:xfrm flipH="1">
            <a:off x="11591" y="3498477"/>
            <a:ext cx="8551845" cy="4479555"/>
            <a:chOff x="592155" y="3498477"/>
            <a:chExt cx="8551845" cy="4479555"/>
          </a:xfrm>
        </p:grpSpPr>
        <p:sp>
          <p:nvSpPr>
            <p:cNvPr id="5" name="Isosceles Triangle 4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Plus 7"/>
          <p:cNvSpPr/>
          <p:nvPr/>
        </p:nvSpPr>
        <p:spPr>
          <a:xfrm>
            <a:off x="7041948" y="1174752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33431" y="1401451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09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305881" y="4734374"/>
            <a:ext cx="5284843" cy="147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91366" y="4316491"/>
            <a:ext cx="2004399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Mission</a:t>
            </a:r>
          </a:p>
        </p:txBody>
      </p:sp>
      <p:grpSp>
        <p:nvGrpSpPr>
          <p:cNvPr id="4" name="Group 3"/>
          <p:cNvGrpSpPr/>
          <p:nvPr/>
        </p:nvGrpSpPr>
        <p:grpSpPr>
          <a:xfrm flipV="1">
            <a:off x="592155" y="-1117601"/>
            <a:ext cx="8551845" cy="4479555"/>
            <a:chOff x="592155" y="3498477"/>
            <a:chExt cx="8551845" cy="4479555"/>
          </a:xfrm>
        </p:grpSpPr>
        <p:sp>
          <p:nvSpPr>
            <p:cNvPr id="5" name="Isosceles Triangle 4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Plus 6"/>
          <p:cNvSpPr/>
          <p:nvPr/>
        </p:nvSpPr>
        <p:spPr>
          <a:xfrm>
            <a:off x="1860348" y="5328116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3405098" y="4119410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83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 rot="20700000">
            <a:off x="4571355" y="1418147"/>
            <a:ext cx="2956193" cy="250850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 177"/>
          <p:cNvSpPr/>
          <p:nvPr/>
        </p:nvSpPr>
        <p:spPr>
          <a:xfrm>
            <a:off x="3431289" y="535509"/>
            <a:ext cx="2281422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Company Staff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3723" y="4824879"/>
            <a:ext cx="199145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Executive Chef</a:t>
            </a:r>
            <a:endParaRPr lang="en-GB" sz="1200" i="1" dirty="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3570" y="4492539"/>
            <a:ext cx="26334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Robert Andrews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4317" y="5132342"/>
            <a:ext cx="3220122" cy="759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61192" y="5129458"/>
            <a:ext cx="3053536" cy="759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60332" y="4491741"/>
            <a:ext cx="27081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Raymond Tran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64037" y="4834104"/>
            <a:ext cx="15780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Sous Chef</a:t>
            </a:r>
            <a:endParaRPr lang="en-GB" sz="1200" i="1" dirty="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Isosceles Triangle 1"/>
          <p:cNvSpPr/>
          <p:nvPr/>
        </p:nvSpPr>
        <p:spPr>
          <a:xfrm rot="20700000">
            <a:off x="585005" y="1464388"/>
            <a:ext cx="2956193" cy="250850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Plus 12"/>
          <p:cNvSpPr/>
          <p:nvPr/>
        </p:nvSpPr>
        <p:spPr>
          <a:xfrm>
            <a:off x="3110756" y="1880846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Plus 13"/>
          <p:cNvSpPr/>
          <p:nvPr/>
        </p:nvSpPr>
        <p:spPr>
          <a:xfrm>
            <a:off x="7213423" y="1870025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/>
          <p:nvPr/>
        </p:nvCxnSpPr>
        <p:spPr>
          <a:xfrm>
            <a:off x="4174847" y="403875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7A769FF-D993-4030-8E30-2E00D5427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030" y="1860511"/>
            <a:ext cx="1868152" cy="22078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B148E2-6236-47BE-B484-1005360C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187" y="1844766"/>
            <a:ext cx="1868152" cy="220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28399" y="3588762"/>
            <a:ext cx="189345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307" y="4011462"/>
            <a:ext cx="4403838" cy="1755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The point of using Lorem Ipsum is that it has a more-or-less normal distribution of letters, as opposed to using 'Content here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 flipH="1" flipV="1">
            <a:off x="11588" y="-1117601"/>
            <a:ext cx="8551845" cy="4479555"/>
            <a:chOff x="592155" y="3498477"/>
            <a:chExt cx="8551845" cy="4479555"/>
          </a:xfrm>
        </p:grpSpPr>
        <p:sp>
          <p:nvSpPr>
            <p:cNvPr id="6" name="Isosceles Triangle 5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Plus 7"/>
          <p:cNvSpPr/>
          <p:nvPr/>
        </p:nvSpPr>
        <p:spPr>
          <a:xfrm>
            <a:off x="6775435" y="5232309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725148" y="3327474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314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9384" y="1591638"/>
            <a:ext cx="5771416" cy="1191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The point of using Lorem Ipsum is that it has a more-or-less normal distribution of letters, as opposed to using 'Content here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0993" y="1174752"/>
            <a:ext cx="2055271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Our Solution</a:t>
            </a:r>
          </a:p>
        </p:txBody>
      </p:sp>
      <p:grpSp>
        <p:nvGrpSpPr>
          <p:cNvPr id="5" name="Group 4"/>
          <p:cNvGrpSpPr/>
          <p:nvPr/>
        </p:nvGrpSpPr>
        <p:grpSpPr>
          <a:xfrm flipH="1">
            <a:off x="11591" y="3498477"/>
            <a:ext cx="8551845" cy="4479555"/>
            <a:chOff x="592155" y="3498477"/>
            <a:chExt cx="8551845" cy="4479555"/>
          </a:xfrm>
        </p:grpSpPr>
        <p:sp>
          <p:nvSpPr>
            <p:cNvPr id="6" name="Isosceles Triangle 5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Plus 7"/>
          <p:cNvSpPr/>
          <p:nvPr/>
        </p:nvSpPr>
        <p:spPr>
          <a:xfrm>
            <a:off x="6584748" y="1174752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725148" y="920458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24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sosceles Triangle 10"/>
          <p:cNvSpPr/>
          <p:nvPr/>
        </p:nvSpPr>
        <p:spPr>
          <a:xfrm rot="20700000">
            <a:off x="513739" y="1937383"/>
            <a:ext cx="1217123" cy="1032802"/>
          </a:xfrm>
          <a:prstGeom prst="triangle">
            <a:avLst/>
          </a:prstGeom>
          <a:solidFill>
            <a:srgbClr val="29AF8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672591" y="1179843"/>
            <a:ext cx="1941104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845" y="1617464"/>
            <a:ext cx="78005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The point of using Lorem Ipsum is that it has a more-or-less.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56105" y="920458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70845" y="2378250"/>
            <a:ext cx="3591873" cy="739241"/>
          </a:xfrm>
          <a:prstGeom prst="rect">
            <a:avLst/>
          </a:prstGeom>
          <a:ln>
            <a:solidFill>
              <a:srgbClr val="14897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9774" y="2401044"/>
            <a:ext cx="3591873" cy="739241"/>
          </a:xfrm>
          <a:prstGeom prst="rect">
            <a:avLst/>
          </a:prstGeom>
          <a:ln>
            <a:solidFill>
              <a:srgbClr val="14897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845" y="4523737"/>
            <a:ext cx="3591873" cy="739241"/>
          </a:xfrm>
          <a:prstGeom prst="rect">
            <a:avLst/>
          </a:prstGeom>
          <a:ln>
            <a:solidFill>
              <a:srgbClr val="14897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9774" y="4546532"/>
            <a:ext cx="3591873" cy="739241"/>
          </a:xfrm>
          <a:prstGeom prst="rect">
            <a:avLst/>
          </a:prstGeom>
          <a:ln>
            <a:solidFill>
              <a:srgbClr val="14897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12" name="Isosceles Triangle 11"/>
          <p:cNvSpPr/>
          <p:nvPr/>
        </p:nvSpPr>
        <p:spPr>
          <a:xfrm rot="20700000">
            <a:off x="4739790" y="1937383"/>
            <a:ext cx="1217123" cy="1032802"/>
          </a:xfrm>
          <a:prstGeom prst="triangle">
            <a:avLst/>
          </a:prstGeom>
          <a:solidFill>
            <a:srgbClr val="29AF8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Isosceles Triangle 12"/>
          <p:cNvSpPr/>
          <p:nvPr/>
        </p:nvSpPr>
        <p:spPr>
          <a:xfrm rot="20700000">
            <a:off x="513740" y="3943652"/>
            <a:ext cx="1217123" cy="1032802"/>
          </a:xfrm>
          <a:prstGeom prst="triangle">
            <a:avLst/>
          </a:prstGeom>
          <a:solidFill>
            <a:srgbClr val="29AF8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Isosceles Triangle 13"/>
          <p:cNvSpPr/>
          <p:nvPr/>
        </p:nvSpPr>
        <p:spPr>
          <a:xfrm rot="20700000">
            <a:off x="4739791" y="3943652"/>
            <a:ext cx="1217123" cy="1032802"/>
          </a:xfrm>
          <a:prstGeom prst="triangle">
            <a:avLst/>
          </a:prstGeom>
          <a:solidFill>
            <a:srgbClr val="29AF8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Plus 14"/>
          <p:cNvSpPr/>
          <p:nvPr/>
        </p:nvSpPr>
        <p:spPr>
          <a:xfrm>
            <a:off x="6340608" y="5738373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/>
          <p:cNvSpPr/>
          <p:nvPr/>
        </p:nvSpPr>
        <p:spPr>
          <a:xfrm>
            <a:off x="6934200" y="6242455"/>
            <a:ext cx="2209800" cy="615545"/>
          </a:xfrm>
          <a:prstGeom prst="triangle">
            <a:avLst/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997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 flipV="1">
            <a:off x="576362" y="-1117601"/>
            <a:ext cx="8551845" cy="4479555"/>
            <a:chOff x="592155" y="3498477"/>
            <a:chExt cx="8551845" cy="4479555"/>
          </a:xfrm>
        </p:grpSpPr>
        <p:sp>
          <p:nvSpPr>
            <p:cNvPr id="7" name="Isosceles Triangle 6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 3"/>
          <p:cNvSpPr/>
          <p:nvPr/>
        </p:nvSpPr>
        <p:spPr>
          <a:xfrm>
            <a:off x="1928906" y="4903286"/>
            <a:ext cx="6761113" cy="1191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The point of using Lorem Ipsum is that it has a more-or-less normal distribution of letters, as opposed to using 'Content here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07495" y="4482536"/>
            <a:ext cx="1809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 err="1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Magnifico</a:t>
            </a:r>
            <a:endParaRPr lang="en-GB" sz="2300" dirty="0">
              <a:solidFill>
                <a:srgbClr val="29AF8C"/>
              </a:solidFill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022341" y="4268271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us 8"/>
          <p:cNvSpPr/>
          <p:nvPr/>
        </p:nvSpPr>
        <p:spPr>
          <a:xfrm>
            <a:off x="7586234" y="2655209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807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7864" y="1338099"/>
            <a:ext cx="75327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The point of using Lorem Ipsum is that it has a more-or-less normal distribution of letters, as opposed to using 'Content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789" y="916848"/>
            <a:ext cx="2104561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Traction</a:t>
            </a:r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659464392"/>
              </p:ext>
            </p:extLst>
          </p:nvPr>
        </p:nvGraphicFramePr>
        <p:xfrm>
          <a:off x="921954" y="3290613"/>
          <a:ext cx="3759018" cy="2506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528549" y="3381598"/>
            <a:ext cx="253252" cy="21316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6528549" y="4473526"/>
            <a:ext cx="253252" cy="10397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6072124" y="5718415"/>
            <a:ext cx="12624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Population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7912" y="3882897"/>
            <a:ext cx="12624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49</a:t>
            </a:r>
            <a:r>
              <a:rPr lang="en-US" sz="32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%</a:t>
            </a:r>
            <a:endParaRPr lang="en-US" sz="1600" dirty="0"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</p:txBody>
      </p:sp>
      <p:sp>
        <p:nvSpPr>
          <p:cNvPr id="9" name="Plus 8"/>
          <p:cNvSpPr/>
          <p:nvPr/>
        </p:nvSpPr>
        <p:spPr>
          <a:xfrm>
            <a:off x="7878794" y="2417043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619744" y="663208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>
            <a:off x="6934200" y="6242455"/>
            <a:ext cx="2209800" cy="615545"/>
          </a:xfrm>
          <a:prstGeom prst="triangle">
            <a:avLst/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749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4411" y="1358556"/>
            <a:ext cx="726181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The point of using Lorem Ipsum is that it has a more-or-less normal distribution of letters, as opposed to using 'Content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69" y="938701"/>
            <a:ext cx="223414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Target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9649" y="5419561"/>
            <a:ext cx="726181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Roughly 200, 000+ of the overall Manhattan’s population are looking for a new and exciting dining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97188" y="4453790"/>
            <a:ext cx="40668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Percent of the entire population are workers who dine out every week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4842" y="2272552"/>
            <a:ext cx="0" cy="158868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 flipH="1">
            <a:off x="1386678" y="2421827"/>
            <a:ext cx="381635" cy="778510"/>
            <a:chOff x="0" y="0"/>
            <a:chExt cx="1908617" cy="3894455"/>
          </a:xfrm>
          <a:solidFill>
            <a:srgbClr val="29AF8C"/>
          </a:solidFill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0" y="1085850"/>
              <a:ext cx="1908617" cy="2808605"/>
            </a:xfrm>
            <a:custGeom>
              <a:avLst/>
              <a:gdLst>
                <a:gd name="T0" fmla="*/ 408 w 509"/>
                <a:gd name="T1" fmla="*/ 32 h 749"/>
                <a:gd name="T2" fmla="*/ 358 w 509"/>
                <a:gd name="T3" fmla="*/ 0 h 749"/>
                <a:gd name="T4" fmla="*/ 340 w 509"/>
                <a:gd name="T5" fmla="*/ 0 h 749"/>
                <a:gd name="T6" fmla="*/ 151 w 509"/>
                <a:gd name="T7" fmla="*/ 0 h 749"/>
                <a:gd name="T8" fmla="*/ 101 w 509"/>
                <a:gd name="T9" fmla="*/ 32 h 749"/>
                <a:gd name="T10" fmla="*/ 9 w 509"/>
                <a:gd name="T11" fmla="*/ 311 h 749"/>
                <a:gd name="T12" fmla="*/ 35 w 509"/>
                <a:gd name="T13" fmla="*/ 370 h 749"/>
                <a:gd name="T14" fmla="*/ 93 w 509"/>
                <a:gd name="T15" fmla="*/ 343 h 749"/>
                <a:gd name="T16" fmla="*/ 118 w 509"/>
                <a:gd name="T17" fmla="*/ 278 h 749"/>
                <a:gd name="T18" fmla="*/ 119 w 509"/>
                <a:gd name="T19" fmla="*/ 300 h 749"/>
                <a:gd name="T20" fmla="*/ 119 w 509"/>
                <a:gd name="T21" fmla="*/ 687 h 749"/>
                <a:gd name="T22" fmla="*/ 180 w 509"/>
                <a:gd name="T23" fmla="*/ 749 h 749"/>
                <a:gd name="T24" fmla="*/ 241 w 509"/>
                <a:gd name="T25" fmla="*/ 687 h 749"/>
                <a:gd name="T26" fmla="*/ 241 w 509"/>
                <a:gd name="T27" fmla="*/ 434 h 749"/>
                <a:gd name="T28" fmla="*/ 243 w 509"/>
                <a:gd name="T29" fmla="*/ 432 h 749"/>
                <a:gd name="T30" fmla="*/ 266 w 509"/>
                <a:gd name="T31" fmla="*/ 432 h 749"/>
                <a:gd name="T32" fmla="*/ 268 w 509"/>
                <a:gd name="T33" fmla="*/ 434 h 749"/>
                <a:gd name="T34" fmla="*/ 268 w 509"/>
                <a:gd name="T35" fmla="*/ 687 h 749"/>
                <a:gd name="T36" fmla="*/ 329 w 509"/>
                <a:gd name="T37" fmla="*/ 749 h 749"/>
                <a:gd name="T38" fmla="*/ 389 w 509"/>
                <a:gd name="T39" fmla="*/ 687 h 749"/>
                <a:gd name="T40" fmla="*/ 389 w 509"/>
                <a:gd name="T41" fmla="*/ 300 h 749"/>
                <a:gd name="T42" fmla="*/ 392 w 509"/>
                <a:gd name="T43" fmla="*/ 280 h 749"/>
                <a:gd name="T44" fmla="*/ 415 w 509"/>
                <a:gd name="T45" fmla="*/ 343 h 749"/>
                <a:gd name="T46" fmla="*/ 473 w 509"/>
                <a:gd name="T47" fmla="*/ 370 h 749"/>
                <a:gd name="T48" fmla="*/ 500 w 509"/>
                <a:gd name="T49" fmla="*/ 311 h 749"/>
                <a:gd name="T50" fmla="*/ 408 w 509"/>
                <a:gd name="T51" fmla="*/ 32 h 749"/>
                <a:gd name="T52" fmla="*/ 408 w 509"/>
                <a:gd name="T53" fmla="*/ 32 h 749"/>
                <a:gd name="T54" fmla="*/ 408 w 509"/>
                <a:gd name="T55" fmla="*/ 32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09" h="749">
                  <a:moveTo>
                    <a:pt x="408" y="32"/>
                  </a:moveTo>
                  <a:cubicBezTo>
                    <a:pt x="400" y="12"/>
                    <a:pt x="379" y="0"/>
                    <a:pt x="358" y="0"/>
                  </a:cubicBezTo>
                  <a:cubicBezTo>
                    <a:pt x="348" y="0"/>
                    <a:pt x="347" y="0"/>
                    <a:pt x="340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26" y="0"/>
                    <a:pt x="108" y="12"/>
                    <a:pt x="101" y="32"/>
                  </a:cubicBezTo>
                  <a:cubicBezTo>
                    <a:pt x="9" y="311"/>
                    <a:pt x="9" y="311"/>
                    <a:pt x="9" y="311"/>
                  </a:cubicBezTo>
                  <a:cubicBezTo>
                    <a:pt x="0" y="335"/>
                    <a:pt x="12" y="361"/>
                    <a:pt x="35" y="370"/>
                  </a:cubicBezTo>
                  <a:cubicBezTo>
                    <a:pt x="59" y="379"/>
                    <a:pt x="85" y="367"/>
                    <a:pt x="93" y="343"/>
                  </a:cubicBezTo>
                  <a:cubicBezTo>
                    <a:pt x="118" y="278"/>
                    <a:pt x="118" y="278"/>
                    <a:pt x="118" y="278"/>
                  </a:cubicBezTo>
                  <a:cubicBezTo>
                    <a:pt x="118" y="278"/>
                    <a:pt x="119" y="271"/>
                    <a:pt x="119" y="300"/>
                  </a:cubicBezTo>
                  <a:cubicBezTo>
                    <a:pt x="119" y="687"/>
                    <a:pt x="119" y="687"/>
                    <a:pt x="119" y="687"/>
                  </a:cubicBezTo>
                  <a:cubicBezTo>
                    <a:pt x="119" y="721"/>
                    <a:pt x="147" y="749"/>
                    <a:pt x="180" y="749"/>
                  </a:cubicBezTo>
                  <a:cubicBezTo>
                    <a:pt x="214" y="749"/>
                    <a:pt x="241" y="721"/>
                    <a:pt x="241" y="687"/>
                  </a:cubicBezTo>
                  <a:cubicBezTo>
                    <a:pt x="241" y="434"/>
                    <a:pt x="241" y="434"/>
                    <a:pt x="241" y="434"/>
                  </a:cubicBezTo>
                  <a:cubicBezTo>
                    <a:pt x="241" y="434"/>
                    <a:pt x="241" y="432"/>
                    <a:pt x="243" y="432"/>
                  </a:cubicBezTo>
                  <a:cubicBezTo>
                    <a:pt x="266" y="432"/>
                    <a:pt x="266" y="432"/>
                    <a:pt x="266" y="432"/>
                  </a:cubicBezTo>
                  <a:cubicBezTo>
                    <a:pt x="268" y="432"/>
                    <a:pt x="268" y="434"/>
                    <a:pt x="268" y="434"/>
                  </a:cubicBezTo>
                  <a:cubicBezTo>
                    <a:pt x="268" y="687"/>
                    <a:pt x="268" y="687"/>
                    <a:pt x="268" y="687"/>
                  </a:cubicBezTo>
                  <a:cubicBezTo>
                    <a:pt x="268" y="721"/>
                    <a:pt x="295" y="749"/>
                    <a:pt x="329" y="749"/>
                  </a:cubicBezTo>
                  <a:cubicBezTo>
                    <a:pt x="362" y="749"/>
                    <a:pt x="389" y="721"/>
                    <a:pt x="389" y="687"/>
                  </a:cubicBezTo>
                  <a:cubicBezTo>
                    <a:pt x="389" y="300"/>
                    <a:pt x="389" y="300"/>
                    <a:pt x="389" y="300"/>
                  </a:cubicBezTo>
                  <a:cubicBezTo>
                    <a:pt x="389" y="271"/>
                    <a:pt x="392" y="280"/>
                    <a:pt x="392" y="280"/>
                  </a:cubicBezTo>
                  <a:cubicBezTo>
                    <a:pt x="415" y="343"/>
                    <a:pt x="415" y="343"/>
                    <a:pt x="415" y="343"/>
                  </a:cubicBezTo>
                  <a:cubicBezTo>
                    <a:pt x="424" y="367"/>
                    <a:pt x="450" y="379"/>
                    <a:pt x="473" y="370"/>
                  </a:cubicBezTo>
                  <a:cubicBezTo>
                    <a:pt x="497" y="361"/>
                    <a:pt x="509" y="335"/>
                    <a:pt x="500" y="311"/>
                  </a:cubicBezTo>
                  <a:lnTo>
                    <a:pt x="408" y="32"/>
                  </a:lnTo>
                  <a:close/>
                  <a:moveTo>
                    <a:pt x="408" y="32"/>
                  </a:moveTo>
                  <a:cubicBezTo>
                    <a:pt x="408" y="32"/>
                    <a:pt x="408" y="32"/>
                    <a:pt x="408" y="3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466725" y="0"/>
              <a:ext cx="978436" cy="967105"/>
            </a:xfrm>
            <a:custGeom>
              <a:avLst/>
              <a:gdLst>
                <a:gd name="T0" fmla="*/ 261 w 261"/>
                <a:gd name="T1" fmla="*/ 129 h 258"/>
                <a:gd name="T2" fmla="*/ 131 w 261"/>
                <a:gd name="T3" fmla="*/ 258 h 258"/>
                <a:gd name="T4" fmla="*/ 0 w 261"/>
                <a:gd name="T5" fmla="*/ 129 h 258"/>
                <a:gd name="T6" fmla="*/ 131 w 261"/>
                <a:gd name="T7" fmla="*/ 0 h 258"/>
                <a:gd name="T8" fmla="*/ 261 w 261"/>
                <a:gd name="T9" fmla="*/ 129 h 258"/>
                <a:gd name="T10" fmla="*/ 261 w 261"/>
                <a:gd name="T11" fmla="*/ 129 h 258"/>
                <a:gd name="T12" fmla="*/ 261 w 261"/>
                <a:gd name="T13" fmla="*/ 12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1" h="258">
                  <a:moveTo>
                    <a:pt x="261" y="129"/>
                  </a:moveTo>
                  <a:cubicBezTo>
                    <a:pt x="261" y="200"/>
                    <a:pt x="203" y="258"/>
                    <a:pt x="131" y="258"/>
                  </a:cubicBezTo>
                  <a:cubicBezTo>
                    <a:pt x="59" y="258"/>
                    <a:pt x="0" y="200"/>
                    <a:pt x="0" y="129"/>
                  </a:cubicBezTo>
                  <a:cubicBezTo>
                    <a:pt x="0" y="58"/>
                    <a:pt x="59" y="0"/>
                    <a:pt x="131" y="0"/>
                  </a:cubicBezTo>
                  <a:cubicBezTo>
                    <a:pt x="203" y="0"/>
                    <a:pt x="261" y="58"/>
                    <a:pt x="261" y="129"/>
                  </a:cubicBezTo>
                  <a:close/>
                  <a:moveTo>
                    <a:pt x="261" y="129"/>
                  </a:moveTo>
                  <a:cubicBezTo>
                    <a:pt x="261" y="129"/>
                    <a:pt x="261" y="129"/>
                    <a:pt x="261" y="12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</p:grpSp>
      <p:grpSp>
        <p:nvGrpSpPr>
          <p:cNvPr id="9" name="Group 8"/>
          <p:cNvGrpSpPr/>
          <p:nvPr/>
        </p:nvGrpSpPr>
        <p:grpSpPr>
          <a:xfrm flipH="1">
            <a:off x="5676618" y="2416252"/>
            <a:ext cx="400049" cy="784858"/>
            <a:chOff x="0" y="0"/>
            <a:chExt cx="1990725" cy="3903913"/>
          </a:xfrm>
          <a:solidFill>
            <a:schemeClr val="bg2">
              <a:lumMod val="25000"/>
            </a:schemeClr>
          </a:solidFill>
        </p:grpSpPr>
        <p:sp>
          <p:nvSpPr>
            <p:cNvPr id="11" name="Freeform 10"/>
            <p:cNvSpPr>
              <a:spLocks noEditPoints="1"/>
            </p:cNvSpPr>
            <p:nvPr/>
          </p:nvSpPr>
          <p:spPr bwMode="auto">
            <a:xfrm>
              <a:off x="495300" y="0"/>
              <a:ext cx="978535" cy="978512"/>
            </a:xfrm>
            <a:custGeom>
              <a:avLst/>
              <a:gdLst>
                <a:gd name="T0" fmla="*/ 261 w 261"/>
                <a:gd name="T1" fmla="*/ 130 h 261"/>
                <a:gd name="T2" fmla="*/ 131 w 261"/>
                <a:gd name="T3" fmla="*/ 261 h 261"/>
                <a:gd name="T4" fmla="*/ 0 w 261"/>
                <a:gd name="T5" fmla="*/ 130 h 261"/>
                <a:gd name="T6" fmla="*/ 131 w 261"/>
                <a:gd name="T7" fmla="*/ 0 h 261"/>
                <a:gd name="T8" fmla="*/ 261 w 261"/>
                <a:gd name="T9" fmla="*/ 130 h 261"/>
                <a:gd name="T10" fmla="*/ 261 w 261"/>
                <a:gd name="T11" fmla="*/ 130 h 261"/>
                <a:gd name="T12" fmla="*/ 261 w 261"/>
                <a:gd name="T13" fmla="*/ 13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1" h="261">
                  <a:moveTo>
                    <a:pt x="261" y="130"/>
                  </a:moveTo>
                  <a:cubicBezTo>
                    <a:pt x="261" y="202"/>
                    <a:pt x="203" y="261"/>
                    <a:pt x="131" y="261"/>
                  </a:cubicBezTo>
                  <a:cubicBezTo>
                    <a:pt x="59" y="261"/>
                    <a:pt x="0" y="202"/>
                    <a:pt x="0" y="130"/>
                  </a:cubicBezTo>
                  <a:cubicBezTo>
                    <a:pt x="0" y="58"/>
                    <a:pt x="59" y="0"/>
                    <a:pt x="131" y="0"/>
                  </a:cubicBezTo>
                  <a:cubicBezTo>
                    <a:pt x="203" y="0"/>
                    <a:pt x="261" y="58"/>
                    <a:pt x="261" y="130"/>
                  </a:cubicBezTo>
                  <a:close/>
                  <a:moveTo>
                    <a:pt x="261" y="130"/>
                  </a:moveTo>
                  <a:cubicBezTo>
                    <a:pt x="261" y="130"/>
                    <a:pt x="261" y="130"/>
                    <a:pt x="261" y="13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0" y="1095375"/>
              <a:ext cx="1990725" cy="2808538"/>
            </a:xfrm>
            <a:custGeom>
              <a:avLst/>
              <a:gdLst>
                <a:gd name="T0" fmla="*/ 520 w 531"/>
                <a:gd name="T1" fmla="*/ 303 h 749"/>
                <a:gd name="T2" fmla="*/ 409 w 531"/>
                <a:gd name="T3" fmla="*/ 32 h 749"/>
                <a:gd name="T4" fmla="*/ 371 w 531"/>
                <a:gd name="T5" fmla="*/ 0 h 749"/>
                <a:gd name="T6" fmla="*/ 173 w 531"/>
                <a:gd name="T7" fmla="*/ 0 h 749"/>
                <a:gd name="T8" fmla="*/ 126 w 531"/>
                <a:gd name="T9" fmla="*/ 33 h 749"/>
                <a:gd name="T10" fmla="*/ 11 w 531"/>
                <a:gd name="T11" fmla="*/ 301 h 749"/>
                <a:gd name="T12" fmla="*/ 31 w 531"/>
                <a:gd name="T13" fmla="*/ 362 h 749"/>
                <a:gd name="T14" fmla="*/ 91 w 531"/>
                <a:gd name="T15" fmla="*/ 342 h 749"/>
                <a:gd name="T16" fmla="*/ 100 w 531"/>
                <a:gd name="T17" fmla="*/ 324 h 749"/>
                <a:gd name="T18" fmla="*/ 102 w 531"/>
                <a:gd name="T19" fmla="*/ 324 h 749"/>
                <a:gd name="T20" fmla="*/ 78 w 531"/>
                <a:gd name="T21" fmla="*/ 457 h 749"/>
                <a:gd name="T22" fmla="*/ 109 w 531"/>
                <a:gd name="T23" fmla="*/ 495 h 749"/>
                <a:gd name="T24" fmla="*/ 159 w 531"/>
                <a:gd name="T25" fmla="*/ 495 h 749"/>
                <a:gd name="T26" fmla="*/ 162 w 531"/>
                <a:gd name="T27" fmla="*/ 497 h 749"/>
                <a:gd name="T28" fmla="*/ 162 w 531"/>
                <a:gd name="T29" fmla="*/ 698 h 749"/>
                <a:gd name="T30" fmla="*/ 209 w 531"/>
                <a:gd name="T31" fmla="*/ 749 h 749"/>
                <a:gd name="T32" fmla="*/ 256 w 531"/>
                <a:gd name="T33" fmla="*/ 698 h 749"/>
                <a:gd name="T34" fmla="*/ 256 w 531"/>
                <a:gd name="T35" fmla="*/ 497 h 749"/>
                <a:gd name="T36" fmla="*/ 258 w 531"/>
                <a:gd name="T37" fmla="*/ 495 h 749"/>
                <a:gd name="T38" fmla="*/ 270 w 531"/>
                <a:gd name="T39" fmla="*/ 495 h 749"/>
                <a:gd name="T40" fmla="*/ 272 w 531"/>
                <a:gd name="T41" fmla="*/ 497 h 749"/>
                <a:gd name="T42" fmla="*/ 272 w 531"/>
                <a:gd name="T43" fmla="*/ 698 h 749"/>
                <a:gd name="T44" fmla="*/ 318 w 531"/>
                <a:gd name="T45" fmla="*/ 749 h 749"/>
                <a:gd name="T46" fmla="*/ 365 w 531"/>
                <a:gd name="T47" fmla="*/ 698 h 749"/>
                <a:gd name="T48" fmla="*/ 365 w 531"/>
                <a:gd name="T49" fmla="*/ 498 h 749"/>
                <a:gd name="T50" fmla="*/ 369 w 531"/>
                <a:gd name="T51" fmla="*/ 495 h 749"/>
                <a:gd name="T52" fmla="*/ 423 w 531"/>
                <a:gd name="T53" fmla="*/ 495 h 749"/>
                <a:gd name="T54" fmla="*/ 454 w 531"/>
                <a:gd name="T55" fmla="*/ 457 h 749"/>
                <a:gd name="T56" fmla="*/ 432 w 531"/>
                <a:gd name="T57" fmla="*/ 321 h 749"/>
                <a:gd name="T58" fmla="*/ 445 w 531"/>
                <a:gd name="T59" fmla="*/ 342 h 749"/>
                <a:gd name="T60" fmla="*/ 498 w 531"/>
                <a:gd name="T61" fmla="*/ 364 h 749"/>
                <a:gd name="T62" fmla="*/ 520 w 531"/>
                <a:gd name="T63" fmla="*/ 303 h 749"/>
                <a:gd name="T64" fmla="*/ 520 w 531"/>
                <a:gd name="T65" fmla="*/ 303 h 749"/>
                <a:gd name="T66" fmla="*/ 520 w 531"/>
                <a:gd name="T67" fmla="*/ 303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1" h="749">
                  <a:moveTo>
                    <a:pt x="520" y="303"/>
                  </a:moveTo>
                  <a:cubicBezTo>
                    <a:pt x="409" y="32"/>
                    <a:pt x="409" y="32"/>
                    <a:pt x="409" y="32"/>
                  </a:cubicBezTo>
                  <a:cubicBezTo>
                    <a:pt x="402" y="19"/>
                    <a:pt x="397" y="0"/>
                    <a:pt x="371" y="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47" y="0"/>
                    <a:pt x="134" y="17"/>
                    <a:pt x="126" y="33"/>
                  </a:cubicBezTo>
                  <a:cubicBezTo>
                    <a:pt x="11" y="301"/>
                    <a:pt x="11" y="301"/>
                    <a:pt x="11" y="301"/>
                  </a:cubicBezTo>
                  <a:cubicBezTo>
                    <a:pt x="0" y="324"/>
                    <a:pt x="9" y="351"/>
                    <a:pt x="31" y="362"/>
                  </a:cubicBezTo>
                  <a:cubicBezTo>
                    <a:pt x="53" y="373"/>
                    <a:pt x="80" y="364"/>
                    <a:pt x="91" y="342"/>
                  </a:cubicBezTo>
                  <a:cubicBezTo>
                    <a:pt x="100" y="324"/>
                    <a:pt x="100" y="324"/>
                    <a:pt x="100" y="324"/>
                  </a:cubicBezTo>
                  <a:cubicBezTo>
                    <a:pt x="100" y="324"/>
                    <a:pt x="103" y="319"/>
                    <a:pt x="102" y="324"/>
                  </a:cubicBezTo>
                  <a:cubicBezTo>
                    <a:pt x="96" y="357"/>
                    <a:pt x="78" y="457"/>
                    <a:pt x="78" y="457"/>
                  </a:cubicBezTo>
                  <a:cubicBezTo>
                    <a:pt x="74" y="478"/>
                    <a:pt x="88" y="495"/>
                    <a:pt x="109" y="495"/>
                  </a:cubicBezTo>
                  <a:cubicBezTo>
                    <a:pt x="159" y="495"/>
                    <a:pt x="159" y="495"/>
                    <a:pt x="159" y="495"/>
                  </a:cubicBezTo>
                  <a:cubicBezTo>
                    <a:pt x="163" y="495"/>
                    <a:pt x="162" y="497"/>
                    <a:pt x="162" y="497"/>
                  </a:cubicBezTo>
                  <a:cubicBezTo>
                    <a:pt x="162" y="698"/>
                    <a:pt x="162" y="698"/>
                    <a:pt x="162" y="698"/>
                  </a:cubicBezTo>
                  <a:cubicBezTo>
                    <a:pt x="162" y="731"/>
                    <a:pt x="183" y="749"/>
                    <a:pt x="209" y="749"/>
                  </a:cubicBezTo>
                  <a:cubicBezTo>
                    <a:pt x="235" y="749"/>
                    <a:pt x="256" y="731"/>
                    <a:pt x="256" y="698"/>
                  </a:cubicBezTo>
                  <a:cubicBezTo>
                    <a:pt x="256" y="497"/>
                    <a:pt x="256" y="497"/>
                    <a:pt x="256" y="497"/>
                  </a:cubicBezTo>
                  <a:cubicBezTo>
                    <a:pt x="256" y="497"/>
                    <a:pt x="255" y="495"/>
                    <a:pt x="258" y="495"/>
                  </a:cubicBezTo>
                  <a:cubicBezTo>
                    <a:pt x="260" y="495"/>
                    <a:pt x="267" y="495"/>
                    <a:pt x="270" y="495"/>
                  </a:cubicBezTo>
                  <a:cubicBezTo>
                    <a:pt x="272" y="495"/>
                    <a:pt x="272" y="497"/>
                    <a:pt x="272" y="497"/>
                  </a:cubicBezTo>
                  <a:cubicBezTo>
                    <a:pt x="272" y="698"/>
                    <a:pt x="272" y="698"/>
                    <a:pt x="272" y="698"/>
                  </a:cubicBezTo>
                  <a:cubicBezTo>
                    <a:pt x="272" y="731"/>
                    <a:pt x="293" y="749"/>
                    <a:pt x="318" y="749"/>
                  </a:cubicBezTo>
                  <a:cubicBezTo>
                    <a:pt x="344" y="749"/>
                    <a:pt x="365" y="731"/>
                    <a:pt x="365" y="698"/>
                  </a:cubicBezTo>
                  <a:cubicBezTo>
                    <a:pt x="365" y="498"/>
                    <a:pt x="365" y="498"/>
                    <a:pt x="365" y="498"/>
                  </a:cubicBezTo>
                  <a:cubicBezTo>
                    <a:pt x="365" y="498"/>
                    <a:pt x="365" y="495"/>
                    <a:pt x="369" y="495"/>
                  </a:cubicBezTo>
                  <a:cubicBezTo>
                    <a:pt x="423" y="495"/>
                    <a:pt x="423" y="495"/>
                    <a:pt x="423" y="495"/>
                  </a:cubicBezTo>
                  <a:cubicBezTo>
                    <a:pt x="444" y="495"/>
                    <a:pt x="458" y="478"/>
                    <a:pt x="454" y="457"/>
                  </a:cubicBezTo>
                  <a:cubicBezTo>
                    <a:pt x="454" y="457"/>
                    <a:pt x="437" y="350"/>
                    <a:pt x="432" y="321"/>
                  </a:cubicBezTo>
                  <a:cubicBezTo>
                    <a:pt x="431" y="313"/>
                    <a:pt x="445" y="342"/>
                    <a:pt x="445" y="342"/>
                  </a:cubicBezTo>
                  <a:cubicBezTo>
                    <a:pt x="455" y="365"/>
                    <a:pt x="476" y="374"/>
                    <a:pt x="498" y="364"/>
                  </a:cubicBezTo>
                  <a:cubicBezTo>
                    <a:pt x="521" y="353"/>
                    <a:pt x="531" y="326"/>
                    <a:pt x="520" y="303"/>
                  </a:cubicBezTo>
                  <a:close/>
                  <a:moveTo>
                    <a:pt x="520" y="303"/>
                  </a:moveTo>
                  <a:cubicBezTo>
                    <a:pt x="520" y="303"/>
                    <a:pt x="520" y="303"/>
                    <a:pt x="520" y="30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1187358" y="3369724"/>
            <a:ext cx="7802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Male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7632" y="3277391"/>
            <a:ext cx="1156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47.9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74148" y="3359811"/>
            <a:ext cx="10049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Female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9231" y="3267478"/>
            <a:ext cx="1156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52.1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%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489804" y="2333179"/>
            <a:ext cx="112449" cy="867931"/>
            <a:chOff x="3354651" y="2038639"/>
            <a:chExt cx="112449" cy="867931"/>
          </a:xfrm>
        </p:grpSpPr>
        <p:sp>
          <p:nvSpPr>
            <p:cNvPr id="19" name="Rectangle 18"/>
            <p:cNvSpPr/>
            <p:nvPr/>
          </p:nvSpPr>
          <p:spPr>
            <a:xfrm>
              <a:off x="3354651" y="2038639"/>
              <a:ext cx="112449" cy="8679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354651" y="2483223"/>
              <a:ext cx="112449" cy="423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891403" y="2345960"/>
            <a:ext cx="112449" cy="867931"/>
            <a:chOff x="3354651" y="2038639"/>
            <a:chExt cx="112449" cy="867931"/>
          </a:xfrm>
        </p:grpSpPr>
        <p:sp>
          <p:nvSpPr>
            <p:cNvPr id="23" name="Rectangle 22"/>
            <p:cNvSpPr/>
            <p:nvPr/>
          </p:nvSpPr>
          <p:spPr>
            <a:xfrm>
              <a:off x="3354651" y="2038639"/>
              <a:ext cx="112449" cy="8679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54651" y="2396915"/>
              <a:ext cx="112449" cy="5096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" name="Group 26"/>
          <p:cNvGrpSpPr/>
          <p:nvPr/>
        </p:nvGrpSpPr>
        <p:grpSpPr>
          <a:xfrm rot="5400000" flipH="1">
            <a:off x="2163640" y="3595526"/>
            <a:ext cx="168453" cy="2292523"/>
            <a:chOff x="3354651" y="2038639"/>
            <a:chExt cx="112450" cy="867931"/>
          </a:xfrm>
        </p:grpSpPr>
        <p:sp>
          <p:nvSpPr>
            <p:cNvPr id="28" name="Rectangle 27"/>
            <p:cNvSpPr/>
            <p:nvPr/>
          </p:nvSpPr>
          <p:spPr>
            <a:xfrm>
              <a:off x="3354651" y="2038639"/>
              <a:ext cx="112449" cy="8679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54652" y="2322939"/>
              <a:ext cx="112449" cy="5836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1669470" y="4154000"/>
            <a:ext cx="1156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65.9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%</a:t>
            </a:r>
          </a:p>
        </p:txBody>
      </p:sp>
      <p:sp>
        <p:nvSpPr>
          <p:cNvPr id="32" name="Plus 31"/>
          <p:cNvSpPr/>
          <p:nvPr/>
        </p:nvSpPr>
        <p:spPr>
          <a:xfrm>
            <a:off x="6633135" y="704011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721342" y="692236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>
            <a:off x="6934200" y="6242455"/>
            <a:ext cx="2209800" cy="615545"/>
          </a:xfrm>
          <a:prstGeom prst="triangle">
            <a:avLst/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9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2968792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" b="-5449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0" y="1"/>
            <a:ext cx="9144000" cy="2968792"/>
          </a:xfrm>
          <a:prstGeom prst="rect">
            <a:avLst/>
          </a:prstGeom>
          <a:solidFill>
            <a:srgbClr val="0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653233" y="2405614"/>
            <a:ext cx="2017485" cy="27286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563258" y="2405614"/>
            <a:ext cx="2017485" cy="27286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6473283" y="2400872"/>
            <a:ext cx="2017485" cy="27286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745390" y="1341661"/>
            <a:ext cx="773493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is a long established fact that a reader will be distracted by the readable content of a page when looking at its layout. The point of using Lorem Ipsum is that it has a more-or-less normal distribution of letters, as opposed to using 'Content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109" y="917650"/>
            <a:ext cx="196936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717" y="2569629"/>
            <a:ext cx="1908517" cy="1589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5116" y="2569629"/>
            <a:ext cx="173376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ts val="3000"/>
              </a:lnSpc>
            </a:pP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4277" y="2757247"/>
            <a:ext cx="1915496" cy="1589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ts val="3000"/>
              </a:lnSpc>
            </a:pP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2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7717" y="5202569"/>
            <a:ext cx="18135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$19.99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41493" y="5202569"/>
            <a:ext cx="18135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$20.99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5270" y="5202569"/>
            <a:ext cx="18135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$18.99</a:t>
            </a:r>
          </a:p>
        </p:txBody>
      </p:sp>
      <p:sp>
        <p:nvSpPr>
          <p:cNvPr id="19" name="Plus 18"/>
          <p:cNvSpPr/>
          <p:nvPr/>
        </p:nvSpPr>
        <p:spPr>
          <a:xfrm>
            <a:off x="7314473" y="591740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837454" y="663208"/>
            <a:ext cx="7943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>
            <a:off x="6934200" y="6242455"/>
            <a:ext cx="2209800" cy="615545"/>
          </a:xfrm>
          <a:prstGeom prst="triangle">
            <a:avLst/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0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29723" y="938352"/>
            <a:ext cx="322080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Alternative Solutions</a:t>
            </a:r>
            <a:endParaRPr lang="en-US" sz="2300" dirty="0">
              <a:solidFill>
                <a:srgbClr val="29AF8C"/>
              </a:solidFill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5333" y="1349786"/>
            <a:ext cx="486814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Quisque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malesuada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metus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erat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ornare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facilisis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US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Duis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scelerisque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ipsum id pharetra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imperdiet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90348" y="1684601"/>
            <a:ext cx="2709806" cy="2400657"/>
          </a:xfrm>
          <a:prstGeom prst="rect">
            <a:avLst/>
          </a:prstGeom>
          <a:ln>
            <a:solidFill>
              <a:srgbClr val="29AF8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Free Dine-in For The First </a:t>
            </a:r>
            <a:r>
              <a:rPr lang="en-US" sz="54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50</a:t>
            </a:r>
            <a:r>
              <a:rPr lang="en-US" sz="4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3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498" y="4085258"/>
            <a:ext cx="23198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72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20</a:t>
            </a:r>
            <a:r>
              <a:rPr lang="en-US" sz="66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%</a:t>
            </a:r>
            <a:endParaRPr lang="en-US" sz="3200" dirty="0"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86" y="5179547"/>
            <a:ext cx="49801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 On Great Selection Of Dishes</a:t>
            </a:r>
          </a:p>
        </p:txBody>
      </p:sp>
      <p:sp>
        <p:nvSpPr>
          <p:cNvPr id="8" name="Plus 7"/>
          <p:cNvSpPr/>
          <p:nvPr/>
        </p:nvSpPr>
        <p:spPr>
          <a:xfrm>
            <a:off x="7292041" y="603250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619744" y="692236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6934200" y="6242455"/>
            <a:ext cx="2209800" cy="615545"/>
          </a:xfrm>
          <a:prstGeom prst="triangle">
            <a:avLst/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Isosceles Triangle 10"/>
          <p:cNvSpPr/>
          <p:nvPr/>
        </p:nvSpPr>
        <p:spPr>
          <a:xfrm rot="20700000">
            <a:off x="5439027" y="1168199"/>
            <a:ext cx="1217123" cy="1032802"/>
          </a:xfrm>
          <a:prstGeom prst="triangle">
            <a:avLst/>
          </a:prstGeom>
          <a:solidFill>
            <a:srgbClr val="29AF8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434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40141" y="1693543"/>
            <a:ext cx="6172653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company will utilize the following business model which will be implemented by early 2019:</a:t>
            </a:r>
          </a:p>
          <a:p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[SPECIFY BUSINESS MODEL]</a:t>
            </a:r>
          </a:p>
          <a:p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Revenue equivalent to roughly $80,000 to $90,000 will be expected by the end of 2019.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914" y="1274172"/>
            <a:ext cx="2557912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Business Model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194629"/>
            <a:ext cx="9144000" cy="11611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942521" y="4421257"/>
            <a:ext cx="6371777" cy="707886"/>
          </a:xfrm>
          <a:prstGeom prst="rect">
            <a:avLst/>
          </a:prstGeom>
          <a:ln>
            <a:solidFill>
              <a:srgbClr val="29AF8C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Revenue equivalent to roughly $80,000 to $90,000 will be expected by the end of 2019</a:t>
            </a:r>
          </a:p>
        </p:txBody>
      </p:sp>
      <p:sp>
        <p:nvSpPr>
          <p:cNvPr id="7" name="Plus 6"/>
          <p:cNvSpPr/>
          <p:nvPr/>
        </p:nvSpPr>
        <p:spPr>
          <a:xfrm>
            <a:off x="7756498" y="1274172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/>
          <p:cNvSpPr/>
          <p:nvPr/>
        </p:nvSpPr>
        <p:spPr>
          <a:xfrm>
            <a:off x="6934200" y="6242455"/>
            <a:ext cx="2209800" cy="615545"/>
          </a:xfrm>
          <a:prstGeom prst="triangle">
            <a:avLst/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032399" y="966511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453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25121" y="1691488"/>
            <a:ext cx="397143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company’s schedule will be as follows :</a:t>
            </a:r>
          </a:p>
          <a:p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[SPECIFY COMPANY SCHEDULE]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7977" y="1269661"/>
            <a:ext cx="1524095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Schedule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92155" y="3498477"/>
            <a:ext cx="8551845" cy="4479555"/>
            <a:chOff x="592155" y="3498477"/>
            <a:chExt cx="8551845" cy="4479555"/>
          </a:xfrm>
        </p:grpSpPr>
        <p:sp>
          <p:nvSpPr>
            <p:cNvPr id="6" name="Isosceles Triangle 5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4314021" y="1053277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us 8"/>
          <p:cNvSpPr/>
          <p:nvPr/>
        </p:nvSpPr>
        <p:spPr>
          <a:xfrm>
            <a:off x="1880133" y="1053277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176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75828" y="810227"/>
            <a:ext cx="1993839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Investing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84266" y="1234319"/>
            <a:ext cx="68445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Lorem ipsum dolor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consectetur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adipiscing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elit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Quisque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malesuada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metus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sit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erat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ornare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facilisis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Duis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scelerisque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ipsum id pharetra </a:t>
            </a:r>
            <a:r>
              <a:rPr lang="en-US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imperdiet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</a:p>
          <a:p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1. Lorem ipsum dolor sit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amet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,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consectetur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adipiscing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elit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.</a:t>
            </a:r>
            <a:b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</a:br>
            <a:endParaRPr lang="en-US" sz="1500" dirty="0"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  <a:p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2.Quisque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malesuada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metus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sit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amet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erat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ornare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facilisis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.</a:t>
            </a:r>
            <a:b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</a:br>
            <a:endParaRPr lang="en-US" sz="1500" dirty="0">
              <a:latin typeface="lato Bold" panose="020F0502020204030203" pitchFamily="34" charset="0"/>
              <a:ea typeface="lato Bold" panose="020F0502020204030203" pitchFamily="34" charset="0"/>
              <a:cs typeface="lato Bold" panose="020F0502020204030203" pitchFamily="34" charset="0"/>
            </a:endParaRPr>
          </a:p>
          <a:p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3.Duis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scelerisque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 ipsum id pharetra </a:t>
            </a:r>
            <a:r>
              <a:rPr lang="en-US" sz="1500" dirty="0" err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imperdiet</a:t>
            </a:r>
            <a: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.</a:t>
            </a:r>
            <a:br>
              <a:rPr lang="en-US" sz="1500" dirty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</a:br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sponsor has agreed to contribute and invest at least $20,000.00 for Virtuoso.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934200" y="6242455"/>
            <a:ext cx="2209800" cy="615545"/>
          </a:xfrm>
          <a:prstGeom prst="triangle">
            <a:avLst/>
          </a:prstGeom>
          <a:solidFill>
            <a:srgbClr val="29AF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885645" y="5055238"/>
            <a:ext cx="4915453" cy="938719"/>
          </a:xfrm>
          <a:prstGeom prst="rect">
            <a:avLst/>
          </a:prstGeom>
          <a:ln>
            <a:solidFill>
              <a:srgbClr val="29AF8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sponsor has agreed to contribute and invest at least </a:t>
            </a:r>
            <a:r>
              <a:rPr lang="en-US" sz="40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$20,000.00 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Virtuoso</a:t>
            </a:r>
          </a:p>
        </p:txBody>
      </p:sp>
      <p:sp>
        <p:nvSpPr>
          <p:cNvPr id="7" name="Isosceles Triangle 6"/>
          <p:cNvSpPr/>
          <p:nvPr/>
        </p:nvSpPr>
        <p:spPr>
          <a:xfrm rot="20700000">
            <a:off x="731459" y="4485048"/>
            <a:ext cx="1217123" cy="1032802"/>
          </a:xfrm>
          <a:prstGeom prst="triangle">
            <a:avLst/>
          </a:prstGeom>
          <a:solidFill>
            <a:srgbClr val="29AF8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888684" y="614755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us 8"/>
          <p:cNvSpPr/>
          <p:nvPr/>
        </p:nvSpPr>
        <p:spPr>
          <a:xfrm>
            <a:off x="7043804" y="4520733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60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0615" y="1361692"/>
            <a:ext cx="7013897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Visit our restaurant every Monday to Friday from 12pm to 12am and Saturday from 11am to 11pm at [ADDRESS].</a:t>
            </a:r>
          </a:p>
          <a:p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more bookings and reservations contact any of these contact details :</a:t>
            </a:r>
          </a:p>
          <a:p>
            <a:b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[Phone Number]</a:t>
            </a:r>
          </a:p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[Email]</a:t>
            </a:r>
          </a:p>
          <a:p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[Website]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9887" y="936591"/>
            <a:ext cx="1967953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Contact Us</a:t>
            </a:r>
          </a:p>
        </p:txBody>
      </p:sp>
      <p:grpSp>
        <p:nvGrpSpPr>
          <p:cNvPr id="5" name="Group 4"/>
          <p:cNvGrpSpPr/>
          <p:nvPr/>
        </p:nvGrpSpPr>
        <p:grpSpPr>
          <a:xfrm flipH="1">
            <a:off x="27381" y="3498477"/>
            <a:ext cx="8551845" cy="4479555"/>
            <a:chOff x="592155" y="3498477"/>
            <a:chExt cx="8551845" cy="4479555"/>
          </a:xfrm>
        </p:grpSpPr>
        <p:sp>
          <p:nvSpPr>
            <p:cNvPr id="6" name="Isosceles Triangle 5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8" name="Straight Connector 7"/>
          <p:cNvCxnSpPr/>
          <p:nvPr/>
        </p:nvCxnSpPr>
        <p:spPr>
          <a:xfrm>
            <a:off x="952279" y="708884"/>
            <a:ext cx="794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us 8"/>
          <p:cNvSpPr/>
          <p:nvPr/>
        </p:nvSpPr>
        <p:spPr>
          <a:xfrm>
            <a:off x="5724875" y="769040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760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323068" y="1283348"/>
            <a:ext cx="5456216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0" dirty="0">
                <a:solidFill>
                  <a:srgbClr val="29AF8C"/>
                </a:solidFill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Thank You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92155" y="3498477"/>
            <a:ext cx="8551845" cy="4479555"/>
            <a:chOff x="592155" y="3498477"/>
            <a:chExt cx="8551845" cy="4479555"/>
          </a:xfrm>
        </p:grpSpPr>
        <p:sp>
          <p:nvSpPr>
            <p:cNvPr id="5" name="Isosceles Triangle 4"/>
            <p:cNvSpPr/>
            <p:nvPr/>
          </p:nvSpPr>
          <p:spPr>
            <a:xfrm>
              <a:off x="6934200" y="6242455"/>
              <a:ext cx="2209800" cy="615545"/>
            </a:xfrm>
            <a:prstGeom prst="triangle">
              <a:avLst/>
            </a:pr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Isosceles Triangle 2"/>
            <p:cNvSpPr/>
            <p:nvPr/>
          </p:nvSpPr>
          <p:spPr>
            <a:xfrm rot="6594663" flipH="1">
              <a:off x="1206728" y="2883904"/>
              <a:ext cx="4479555" cy="5708702"/>
            </a:xfrm>
            <a:custGeom>
              <a:avLst/>
              <a:gdLst>
                <a:gd name="connsiteX0" fmla="*/ 0 w 5807637"/>
                <a:gd name="connsiteY0" fmla="*/ 5006583 h 5006583"/>
                <a:gd name="connsiteX1" fmla="*/ 5807637 w 5807637"/>
                <a:gd name="connsiteY1" fmla="*/ 0 h 5006583"/>
                <a:gd name="connsiteX2" fmla="*/ 5807637 w 5807637"/>
                <a:gd name="connsiteY2" fmla="*/ 5006583 h 5006583"/>
                <a:gd name="connsiteX3" fmla="*/ 0 w 5807637"/>
                <a:gd name="connsiteY3" fmla="*/ 5006583 h 5006583"/>
                <a:gd name="connsiteX0" fmla="*/ 0 w 5807637"/>
                <a:gd name="connsiteY0" fmla="*/ 5006583 h 5006583"/>
                <a:gd name="connsiteX1" fmla="*/ 826594 w 5807637"/>
                <a:gd name="connsiteY1" fmla="*/ 4287140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5807637"/>
                <a:gd name="connsiteY0" fmla="*/ 5006583 h 5006583"/>
                <a:gd name="connsiteX1" fmla="*/ 2672241 w 5807637"/>
                <a:gd name="connsiteY1" fmla="*/ 2686408 h 5006583"/>
                <a:gd name="connsiteX2" fmla="*/ 5807637 w 5807637"/>
                <a:gd name="connsiteY2" fmla="*/ 0 h 5006583"/>
                <a:gd name="connsiteX3" fmla="*/ 5807637 w 5807637"/>
                <a:gd name="connsiteY3" fmla="*/ 5006583 h 5006583"/>
                <a:gd name="connsiteX4" fmla="*/ 0 w 5807637"/>
                <a:gd name="connsiteY4" fmla="*/ 5006583 h 5006583"/>
                <a:gd name="connsiteX0" fmla="*/ 0 w 3957489"/>
                <a:gd name="connsiteY0" fmla="*/ 5012937 h 5012937"/>
                <a:gd name="connsiteX1" fmla="*/ 822093 w 3957489"/>
                <a:gd name="connsiteY1" fmla="*/ 2686408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57489"/>
                <a:gd name="connsiteY0" fmla="*/ 5012937 h 5012937"/>
                <a:gd name="connsiteX1" fmla="*/ 894444 w 3957489"/>
                <a:gd name="connsiteY1" fmla="*/ 2626504 h 5012937"/>
                <a:gd name="connsiteX2" fmla="*/ 3957489 w 3957489"/>
                <a:gd name="connsiteY2" fmla="*/ 0 h 5012937"/>
                <a:gd name="connsiteX3" fmla="*/ 3957489 w 3957489"/>
                <a:gd name="connsiteY3" fmla="*/ 5006583 h 5012937"/>
                <a:gd name="connsiteX4" fmla="*/ 0 w 3957489"/>
                <a:gd name="connsiteY4" fmla="*/ 5012937 h 5012937"/>
                <a:gd name="connsiteX0" fmla="*/ 0 w 3936333"/>
                <a:gd name="connsiteY0" fmla="*/ 5010469 h 5010469"/>
                <a:gd name="connsiteX1" fmla="*/ 873288 w 3936333"/>
                <a:gd name="connsiteY1" fmla="*/ 2626504 h 5010469"/>
                <a:gd name="connsiteX2" fmla="*/ 3936333 w 3936333"/>
                <a:gd name="connsiteY2" fmla="*/ 0 h 5010469"/>
                <a:gd name="connsiteX3" fmla="*/ 3936333 w 3936333"/>
                <a:gd name="connsiteY3" fmla="*/ 5006583 h 5010469"/>
                <a:gd name="connsiteX4" fmla="*/ 0 w 3936333"/>
                <a:gd name="connsiteY4" fmla="*/ 5010469 h 5010469"/>
                <a:gd name="connsiteX0" fmla="*/ 0 w 3928610"/>
                <a:gd name="connsiteY0" fmla="*/ 5003135 h 5006583"/>
                <a:gd name="connsiteX1" fmla="*/ 865565 w 3928610"/>
                <a:gd name="connsiteY1" fmla="*/ 2626504 h 5006583"/>
                <a:gd name="connsiteX2" fmla="*/ 3928610 w 3928610"/>
                <a:gd name="connsiteY2" fmla="*/ 0 h 5006583"/>
                <a:gd name="connsiteX3" fmla="*/ 3928610 w 3928610"/>
                <a:gd name="connsiteY3" fmla="*/ 5006583 h 5006583"/>
                <a:gd name="connsiteX4" fmla="*/ 0 w 3928610"/>
                <a:gd name="connsiteY4" fmla="*/ 5003135 h 500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28610" h="5006583">
                  <a:moveTo>
                    <a:pt x="0" y="5003135"/>
                  </a:moveTo>
                  <a:lnTo>
                    <a:pt x="865565" y="2626504"/>
                  </a:lnTo>
                  <a:lnTo>
                    <a:pt x="3928610" y="0"/>
                  </a:lnTo>
                  <a:lnTo>
                    <a:pt x="3928610" y="5006583"/>
                  </a:lnTo>
                  <a:lnTo>
                    <a:pt x="0" y="5003135"/>
                  </a:lnTo>
                  <a:close/>
                </a:path>
              </a:pathLst>
            </a:custGeom>
            <a:solidFill>
              <a:srgbClr val="29AF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Plus 6"/>
          <p:cNvSpPr/>
          <p:nvPr/>
        </p:nvSpPr>
        <p:spPr>
          <a:xfrm>
            <a:off x="3370698" y="1335739"/>
            <a:ext cx="335102" cy="335102"/>
          </a:xfrm>
          <a:prstGeom prst="mathPlus">
            <a:avLst>
              <a:gd name="adj1" fmla="val 71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45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14836</TotalTime>
  <Words>925</Words>
  <Application>Microsoft Office PowerPoint</Application>
  <PresentationFormat>On-screen Show (4:3)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Lato</vt:lpstr>
      <vt:lpstr>Lato Black</vt:lpstr>
      <vt:lpstr>lato Bold</vt:lpstr>
      <vt:lpstr>Lato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SBB</dc:creator>
  <cp:lastModifiedBy>MahendiAli Kadiwala</cp:lastModifiedBy>
  <cp:revision>3321</cp:revision>
  <dcterms:created xsi:type="dcterms:W3CDTF">2018-06-29T05:14:06Z</dcterms:created>
  <dcterms:modified xsi:type="dcterms:W3CDTF">2020-01-21T08:39:12Z</dcterms:modified>
</cp:coreProperties>
</file>